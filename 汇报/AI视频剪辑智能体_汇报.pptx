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10.xml" /><Relationship Id="rId16" Type="http://schemas.openxmlformats.org/officeDocument/2006/relationships/presProps" Target="presProps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&gt;&#10;  {/* 全屏白底 */}&#10;  &lt;Box style={{ position: 'absolute', left: 0, top: 0, width: '100%', height: '100%', background: '#FFFFFF' }} /&gt;&#10;&#10;  {/* 左侧渐变竖条 · 视觉锚点 */}&#10;  &lt;Box style={{ position: 'absolute', left: 64, top: 196, width: 12, height: 312, background: 'linear-gradient(180deg, #007AFF 0%, #4DA3FF 100%)', borderRadius: 6 }} /&gt;&#10;&#10;  {/* 主标题区 */}&#10;  &lt;Box style={{ position: 'absolute', left: 104, top: 196, flexDirection: 'column' }}&gt;&#10;    &lt;Text style={{ fontSize: 60, fontWeight: 'bold', color: '#1D1D1F', lineHeight: 1.2 }}&gt;&#10;      AI 视频剪辑&lt;span style={{ color: '#007AFF' }}&gt;智能体&lt;/span&gt;&#10;    &lt;/Text&gt;&#10;    &lt;Text style={{ fontSize: 24, color: '#86868B', marginTop: 22, lineHeight: 1.4 }}&gt;&#10;      用自然语言指令驱动视频剪辑 · 理解 · 规划 · 渲染&#10;    &lt;/Text&gt;&#10;    &lt;Text style={{ fontSize: 20, color: '#1D1D1F', marginTop: 18, lineHeight: 1.6 }}&gt;&#10;      让「不会剪」的人，也能一句话完成专业剪辑&#10;    &lt;/Text&gt;&#10;  &lt;/Box&gt;&#10;&#10;  {/* 底部落款 */}&#10;  &lt;Box style={{ position: 'absolute', left: 64, bottom: 56, flexDirection: 'row', alignItems: 'center', gap: 12 }}&gt;&#10;    &lt;Text style={{ fontSize: 16, color: '#86868B' }}&gt;Ryhirz&lt;/Text&gt;&#10;    &lt;Text style={{ fontSize: 16, color: '#D2D2D7' }}&gt;·&lt;/Text&gt;&#10;    &lt;Text style={{ fontSize: 16, color: '#86868B' }}&gt;数据科学与大数据技术&lt;/Text&gt;&#10;    &lt;Text style={{ fontSize: 16, color: '#D2D2D7' }}&gt;·&lt;/Text&gt;&#10;    &lt;Text style={{ fontSize: 16, color: '#86868B' }}&gt;2026.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1866900"/>
            <a:ext cx="114300" cy="2971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7AFF"/>
              </a:gs>
              <a:gs pos="100000">
                <a:srgbClr val="4DA3FF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990600" y="1866900"/>
            <a:ext cx="4914900" cy="828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500" b="1">
                <a:solidFill>
                  <a:srgbClr val="1D1D1F"/>
                </a:solidFill>
                <a:latin typeface="Microsoft YaHei"/>
                <a:ea typeface="Microsoft YaHei"/>
              </a:rPr>
              <a:t>AI </a:t>
            </a:r>
            <a:r>
              <a:rPr lang="zh-CN" sz="4500" b="1">
                <a:solidFill>
                  <a:srgbClr val="1D1D1F"/>
                </a:solidFill>
                <a:latin typeface="Microsoft YaHei"/>
                <a:ea typeface="Microsoft YaHei"/>
              </a:rPr>
              <a:t>视频剪辑</a:t>
            </a:r>
            <a:r>
              <a:rPr lang="zh-CN" sz="4500" b="1">
                <a:solidFill>
                  <a:srgbClr val="007AFF"/>
                </a:solidFill>
                <a:latin typeface="Microsoft YaHei"/>
                <a:ea typeface="Microsoft YaHei"/>
              </a:rPr>
              <a:t>智能体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90600" y="2905125"/>
            <a:ext cx="49149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>
                <a:solidFill>
                  <a:srgbClr val="86868B"/>
                </a:solidFill>
                <a:latin typeface="Microsoft YaHei"/>
                <a:ea typeface="Microsoft YaHei"/>
              </a:rPr>
              <a:t>用自然语言指令驱动视频剪辑</a:t>
            </a:r>
            <a:r>
              <a:rPr lang="en-US" sz="1800">
                <a:solidFill>
                  <a:srgbClr val="86868B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86868B"/>
                </a:solidFill>
                <a:latin typeface="Microsoft YaHei"/>
                <a:ea typeface="Microsoft YaHei"/>
              </a:rPr>
              <a:t>理解</a:t>
            </a:r>
            <a:r>
              <a:rPr lang="en-US" sz="1800">
                <a:solidFill>
                  <a:srgbClr val="86868B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86868B"/>
                </a:solidFill>
                <a:latin typeface="Microsoft YaHei"/>
                <a:ea typeface="Microsoft YaHei"/>
              </a:rPr>
              <a:t>规划</a:t>
            </a:r>
            <a:r>
              <a:rPr lang="en-US" sz="1800">
                <a:solidFill>
                  <a:srgbClr val="86868B"/>
                </a:solidFill>
                <a:latin typeface="Microsoft YaHei"/>
                <a:ea typeface="Microsoft YaHei"/>
              </a:rPr>
              <a:t> · </a:t>
            </a:r>
            <a:r>
              <a:rPr lang="zh-CN" sz="1800">
                <a:solidFill>
                  <a:srgbClr val="86868B"/>
                </a:solidFill>
                <a:latin typeface="Microsoft YaHei"/>
                <a:ea typeface="Microsoft YaHei"/>
              </a:rPr>
              <a:t>渲染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90600" y="3467100"/>
            <a:ext cx="49149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1D1D1F"/>
                </a:solidFill>
                <a:latin typeface="Microsoft YaHei"/>
                <a:ea typeface="Microsoft YaHei"/>
              </a:rPr>
              <a:t>让「不会剪」的人，也能一句话完成专业剪辑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1341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6868B"/>
                </a:solidFill>
                <a:latin typeface="Microsoft YaHei"/>
                <a:ea typeface="Microsoft YaHei"/>
              </a:rPr>
              <a:t>Ryhirz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181100" y="6134100"/>
            <a:ext cx="38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D2D2D7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333500" y="613410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6868B"/>
                </a:solidFill>
                <a:latin typeface="Microsoft YaHei"/>
                <a:ea typeface="Microsoft YaHei"/>
              </a:rPr>
              <a:t>数据科学与大数据技术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2971800" y="6134100"/>
            <a:ext cx="38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D2D2D7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3124200" y="6134100"/>
            <a:ext cx="581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6868B"/>
                </a:solidFill>
                <a:latin typeface="Microsoft YaHei"/>
                <a:ea typeface="Microsoft YaHei"/>
              </a:rPr>
              <a:t>2026.09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71" name="" descr="&lt;Slide&gt;&#10;  &lt;Box style={{ position: 'absolute', left: 0, top: 0, width: '100%', height: '100%', background: '#FFFFFF' }} /&gt;&#10;&#10;  {/* 左标题区 */}&#10;  &lt;Box style={{ position: 'absolute', left: 64, top: 0, width: 360, height: '100%', justifyContent: 'center', borderRight: '1px solid #D2D2D7' }}&gt;&#10;    &lt;Text style={{ fontSize: 48, fontWeight: 'bold', color: '#1D1D1F' }}&gt;目录&lt;/Text&gt;&#10;    &lt;Text style={{ fontSize: 18, color: '#86868B', marginTop: 12, letterSpacing: 4 }}&gt;CONTENTS&lt;/Text&gt;&#10;  &lt;/Box&gt;&#10;&#10;  {/* 右章节列表 */}&#10;  &lt;Box style={{ position: 'absolute', left: 480, top: 0, height: '100%', justifyContent: 'center', gap: 32 }}&gt;&#10;    {[['01', '第一章　项目概览', '项目定位 · 技术栈'], ['02', '第二章　核心能力与架构', '功能矩阵 · 系统架构'], ['03', '第三章　工程攻坚与质量保障', '缺陷修复 · 性能 · 验收 · 交付']].map((c, i) =&gt; (&#10;      &lt;Box key={i} style={{ flexDirection: 'row', alignItems: 'center', gap: 22 }}&gt;&#10;        &lt;Text style={{ fontSize: 42, fontWeight: 'bold', color: '#007AFF' }}&gt;{c[0]}&lt;/Text&gt;&#10;        &lt;Box&gt;&#10;          &lt;Text style={{ fontSize: 24, fontWeight: 'bold', color: '#1D1D1F' }}&gt;{c[1]}&lt;/Text&gt;&#10;          &lt;Text style={{ fontSize: 16, color: '#86868B', marginTop: 4 }}&gt;{c[2]}&lt;/Text&gt;&#10;        &lt;/Box&gt;&#10;      &lt;/Box&gt;&#10;    ))}&#10;  &lt;/Box&gt;&#10;&#10;  {/* 页脚 */}&#10;  &lt;Box style={{ position: 'absolute', left: 0, top: 660, width: '100%', height: 60, flexDirection: 'row', justifyContent: 'space-between', alignItems: 'center', padding: '0 64px' }}&gt;&#10;    &lt;Text style={{ fontSize: 14, color: '#86868B' }}&gt;AI 视频剪辑智能体&lt;/Text&gt;&#10;    &lt;Text style={{ fontSize: 14, color: '#86868B' }}&gt;02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609600" y="0"/>
            <a:ext cx="3429000" cy="6858000"/>
          </a:xfrm>
          <a:custGeom>
            <a:pathLst>
              <a:path w="360" h="720">
                <a:moveTo>
                  <a:pt x="359" y="0"/>
                </a:moveTo>
                <a:lnTo>
                  <a:pt x="360" y="0"/>
                </a:lnTo>
                <a:lnTo>
                  <a:pt x="360" y="720"/>
                </a:lnTo>
                <a:lnTo>
                  <a:pt x="359" y="720"/>
                </a:lnTo>
                <a:close/>
              </a:path>
            </a:pathLst>
          </a:custGeom>
          <a:solidFill>
            <a:srgbClr val="D2D2D7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2990850"/>
            <a:ext cx="3419475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1D1D1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09600" y="3657600"/>
            <a:ext cx="3419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300">
                <a:solidFill>
                  <a:srgbClr val="86868B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572000" y="2381250"/>
            <a:ext cx="4953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007A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276850" y="2371725"/>
            <a:ext cx="1828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D1D1F"/>
                </a:solidFill>
                <a:latin typeface="Microsoft YaHei"/>
                <a:ea typeface="Microsoft YaHei"/>
              </a:rPr>
              <a:t>第一章　项目概览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276850" y="2686050"/>
            <a:ext cx="182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6868B"/>
                </a:solidFill>
                <a:latin typeface="Microsoft YaHei"/>
                <a:ea typeface="Microsoft YaHei"/>
              </a:rPr>
              <a:t>项目定位</a:t>
            </a:r>
            <a:r>
              <a:rPr lang="en-US" sz="1200">
                <a:solidFill>
                  <a:srgbClr val="86868B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86868B"/>
                </a:solidFill>
                <a:latin typeface="Microsoft YaHei"/>
                <a:ea typeface="Microsoft YaHei"/>
              </a:rPr>
              <a:t>技术栈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572000" y="3190875"/>
            <a:ext cx="4953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007A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276850" y="3181350"/>
            <a:ext cx="2514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D1D1F"/>
                </a:solidFill>
                <a:latin typeface="Microsoft YaHei"/>
                <a:ea typeface="Microsoft YaHei"/>
              </a:rPr>
              <a:t>第二章　核心能力与架构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5276850" y="3495675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6868B"/>
                </a:solidFill>
                <a:latin typeface="Microsoft YaHei"/>
                <a:ea typeface="Microsoft YaHei"/>
              </a:rPr>
              <a:t>功能矩阵</a:t>
            </a:r>
            <a:r>
              <a:rPr lang="en-US" sz="1200">
                <a:solidFill>
                  <a:srgbClr val="86868B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86868B"/>
                </a:solidFill>
                <a:latin typeface="Microsoft YaHei"/>
                <a:ea typeface="Microsoft YaHei"/>
              </a:rPr>
              <a:t>系统架构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572000" y="4000500"/>
            <a:ext cx="49530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007A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276850" y="3990975"/>
            <a:ext cx="2971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D1D1F"/>
                </a:solidFill>
                <a:latin typeface="Microsoft YaHei"/>
                <a:ea typeface="Microsoft YaHei"/>
              </a:rPr>
              <a:t>第三章　工程攻坚与质量保障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276850" y="4305300"/>
            <a:ext cx="2971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6868B"/>
                </a:solidFill>
                <a:latin typeface="Microsoft YaHei"/>
                <a:ea typeface="Microsoft YaHei"/>
              </a:rPr>
              <a:t>缺陷修复</a:t>
            </a:r>
            <a:r>
              <a:rPr lang="en-US" sz="1200">
                <a:solidFill>
                  <a:srgbClr val="86868B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86868B"/>
                </a:solidFill>
                <a:latin typeface="Microsoft YaHei"/>
                <a:ea typeface="Microsoft YaHei"/>
              </a:rPr>
              <a:t>性能</a:t>
            </a:r>
            <a:r>
              <a:rPr lang="en-US" sz="1200">
                <a:solidFill>
                  <a:srgbClr val="86868B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86868B"/>
                </a:solidFill>
                <a:latin typeface="Microsoft YaHei"/>
                <a:ea typeface="Microsoft YaHei"/>
              </a:rPr>
              <a:t>验收</a:t>
            </a:r>
            <a:r>
              <a:rPr lang="en-US" sz="1200">
                <a:solidFill>
                  <a:srgbClr val="86868B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86868B"/>
                </a:solidFill>
                <a:latin typeface="Microsoft YaHei"/>
                <a:ea typeface="Microsoft YaHei"/>
              </a:rPr>
              <a:t>交付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86868B"/>
                </a:solidFill>
                <a:latin typeface="Microsoft YaHei"/>
                <a:ea typeface="Microsoft YaHei"/>
              </a:rPr>
              <a:t>视频剪辑智能体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87" name="" descr="&lt;Slide&gt;&#10;  &lt;Box style={{ position: 'absolute', left: 0, top: 0, width: '100%', height: '100%', background: '#FFFFFF' }} /&gt;&#10;&#10;  {/* 巨大章节编号 */}&#10;  &lt;Box style={{ position: 'absolute', left: 120, top: 168 }}&gt;&#10;    &lt;Text style={{ fontSize: 130, fontWeight: 'bold', color: '#007AFF', lineHeight: 1 }}&gt;01&lt;/Text&gt;&#10;  &lt;/Box&gt;&#10;&#10;  {/* 章节标题 */}&#10;  &lt;Box style={{ position: 'absolute', left: 410, top: 250, flexDirection: 'column' }}&gt;&#10;    &lt;Text style={{ fontSize: 52, fontWeight: 'bold', color: '#1D1D1F' }}&gt;第一章&lt;/Text&gt;&#10;    &lt;Text style={{ fontSize: 52, fontWeight: 'bold', color: '#1D1D1F', marginTop: 6 }}&gt;项目概览&lt;/Text&gt;&#10;    &lt;Text style={{ fontSize: 20, color: '#86868B', marginTop: 22 }}&gt;项目定位与技术栈&lt;/Text&gt;&#10;  &lt;/Box&gt;&#10;&#10;  {/* 页脚 */}&#10;  &lt;Box style={{ position: 'absolute', left: 0, top: 660, width: '100%', height: 60, flexDirection: 'row', justifyContent: 'space-between', alignItems: 'center', padding: '0 64px' }}&gt;&#10;    &lt;Text style={{ fontSize: 14, color: '#86868B' }}&gt;AI 视频剪辑智能体&lt;/Text&gt;&#10;    &lt;Text style={{ fontSize: 14, color: '#86868B' }}&gt;03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43000" y="1600200"/>
            <a:ext cx="1533525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07A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3905250" y="2381250"/>
            <a:ext cx="19812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1D1D1F"/>
                </a:solidFill>
                <a:latin typeface="Microsoft YaHei"/>
                <a:ea typeface="Microsoft YaHei"/>
              </a:rPr>
              <a:t>第一章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905250" y="3038475"/>
            <a:ext cx="19812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1D1D1F"/>
                </a:solidFill>
                <a:latin typeface="Microsoft YaHei"/>
                <a:ea typeface="Microsoft YaHei"/>
              </a:rPr>
              <a:t>项目概览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3905250" y="3848100"/>
            <a:ext cx="1981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6868B"/>
                </a:solidFill>
                <a:latin typeface="Microsoft YaHei"/>
                <a:ea typeface="Microsoft YaHei"/>
              </a:rPr>
              <a:t>项目定位与技术栈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86868B"/>
                </a:solidFill>
                <a:latin typeface="Microsoft YaHei"/>
                <a:ea typeface="Microsoft YaHei"/>
              </a:rPr>
              <a:t>视频剪辑智能体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03 / 14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95" name="" descr="&lt;Slide&gt;&#10;  &lt;Box style={{ position: 'absolute', left: 0, top: 0, width: '100%', height: '100%', background: '#FFFFFF' }} /&gt;&#10;&#10;  {/* A 标题块 */}&#10;  &lt;Text style={{ position: 'absolute', left: 64, top: 34, fontSize: 34, fontWeight: 'bold', color: '#1D1D1F' }}&gt;项目简介与定位&lt;/Text&gt;&#10;  &lt;Box style={{ position: 'absolute', left: 64, top: 110, width: 80, height: 5, background: '#007AFF', borderRadius: 3 }} /&gt;&#10;&#10;  {/* B 内容区 */}&#10;  &lt;Box style={{ position: 'absolute', left: 64, top: 132, right: 64, bottom: 72, flexDirection: 'column' }}&gt;&#10;    &lt;Text style={{ fontSize: 20, color: '#1D1D1F', lineHeight: 1.65 }}&gt;&#10;      AI 视频剪辑智能体是一套用&lt;span style={{ fontWeight: 'bold', color: '#007AFF' }}&gt;自然语言指令驱动&lt;/span&gt;视频剪辑的系统。用户只需说出「删掉有公交车的片段」「去掉前 2 秒并加字幕」这类口语化需求，系统就自动完成素材理解、编辑规划与成片渲染。它面向「不会专业剪辑软件、但想快速出片」的用户，把复杂的剪辑流程压缩成一句话。&#10;    &lt;/Text&gt;&#10;    &lt;Text style={{ fontSize: 20, color: '#1D1D1F', lineHeight: 1.65, marginTop: 14 }}&gt;&#10;      整套链路分三步：先用视觉模型与语音识别理解素材（画面里有什么、说了什么、镜头如何切分）；再由 LLM 把指令翻译成精确的编辑操作；最后交给 ffmpeg 渲染成片。系统还内置&lt;span style={{ fontWeight: 'bold', color: '#007AFF' }}&gt;事实核对闸&lt;/span&gt;，确保弱模型规划偏差也能被自动纠正，交付物永远正确。&#10;    &lt;/Text&gt;&#10;&#10;    {/* 处理链路 SVG */}&#10;    &lt;Box style={{ marginTop: 18, alignItems: 'center' }}&gt;&#10;      &lt;svg width={760} height={130} viewBox='0 0 760 130'&gt;&#10;        &lt;rect x='10' y='37' width='150' height='56' rx='10' fill='#E8F1FF' stroke='#007AFF' strokeWidth='1.5' /&gt;&#10;        &lt;text x='85' y='71' textAnchor='middle' fontSize='18' fill='#1D1D1F' fontWeight='bold'&gt;自然语言指令&lt;/text&gt;&#10;        &lt;rect x='205' y='37' width='150' height='56' rx='10' fill='#E8F1FF' stroke='#007AFF' strokeWidth='1.5' /&gt;&#10;        &lt;text x='280' y='63' textAnchor='middle' fontSize='18' fill='#1D1D1F' fontWeight='bold'&gt;素材理解&lt;/text&gt;&#10;        &lt;text x='280' y='84' textAnchor='middle' fontSize='14' fill='#86868B'&gt;M2&lt;/text&gt;&#10;        &lt;rect x='400' y='37' width='150' height='56' rx='10' fill='#E8F1FF' stroke='#007AFF' strokeWidth='1.5' /&gt;&#10;        &lt;text x='475' y='71' textAnchor='middle' fontSize='18' fill='#1D1D1F' fontWeight='bold'&gt;LLM 规划&lt;/text&gt;&#10;        &lt;rect x='595' y='37' width='150' height='56' rx='10' fill='#E8F1FF' stroke='#007AFF' strokeWidth='1.5' /&gt;&#10;        &lt;text x='670' y='71' textAnchor='middle' fontSize='18' fill='#1D1D1F' fontWeight='bold'&gt;渲染成片&lt;/text&gt;&#10;        &lt;path d='M163 65 L198 65' stroke='#007AFF' strokeWidth='2' /&gt;&#10;        &lt;path d='M198 58 L208 65 L198 72 Z' fill='#007AFF' /&gt;&#10;        &lt;path d='M358 65 L393 65' stroke='#007AFF' strokeWidth='2' /&gt;&#10;        &lt;path d='M393 58 L403 65 L393 72 Z' fill='#007AFF' /&gt;&#10;        &lt;path d='M553 65 L588 65' stroke='#007AFF' strokeWidth='2' /&gt;&#10;        &lt;path d='M588 58 L598 65 L588 72 Z' fill='#007AFF' /&gt;&#10;      &lt;/svg&gt;&#10;    &lt;/Box&gt;&#10;  &lt;/Box&gt;&#10;&#10;  {/* C 页脚 */}&#10;  &lt;Box style={{ position: 'absolute', left: 0, top: 660, width: '100%', height: 60, flexDirection: 'row', justifyContent: 'space-between', alignItems: 'center', padding: '0 64px' }}&gt;&#10;    &lt;Text style={{ fontSize: 14, color: '#86868B' }}&gt;AI 视频剪辑智能体&lt;/Text&gt;&#10;    &lt;Text style={{ fontSize: 14, color: '#86868B' }}&gt;04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D1D1F"/>
                </a:solidFill>
                <a:latin typeface="Microsoft YaHei"/>
                <a:ea typeface="Microsoft YaHei"/>
              </a:rPr>
              <a:t>项目简介与定位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09600" y="1047750"/>
            <a:ext cx="762000" cy="47625"/>
          </a:xfrm>
          <a:prstGeom prst="roundRect">
            <a:avLst>
              <a:gd name="adj" fmla="val 60000"/>
            </a:avLst>
          </a:prstGeom>
          <a:solidFill>
            <a:srgbClr val="007AFF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09600" y="1257300"/>
            <a:ext cx="10972800" cy="1133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500">
                <a:solidFill>
                  <a:srgbClr val="1D1D1F"/>
                </a:solidFill>
                <a:latin typeface="Microsoft YaHei"/>
                <a:ea typeface="Microsoft YaHei"/>
              </a:rPr>
              <a:t>AI </a:t>
            </a:r>
            <a:r>
              <a:rPr lang="zh-CN" sz="1500">
                <a:solidFill>
                  <a:srgbClr val="1D1D1F"/>
                </a:solidFill>
                <a:latin typeface="Microsoft YaHei"/>
                <a:ea typeface="Microsoft YaHei"/>
              </a:rPr>
              <a:t>视频剪辑智能体是一套用</a:t>
            </a:r>
            <a:r>
              <a:rPr lang="zh-CN" sz="1500" b="1">
                <a:solidFill>
                  <a:srgbClr val="007AFF"/>
                </a:solidFill>
                <a:latin typeface="Microsoft YaHei"/>
                <a:ea typeface="Microsoft YaHei"/>
              </a:rPr>
              <a:t>自然语言指令驱动</a:t>
            </a:r>
            <a:r>
              <a:rPr lang="zh-CN" sz="1500">
                <a:solidFill>
                  <a:srgbClr val="1D1D1F"/>
                </a:solidFill>
                <a:latin typeface="Microsoft YaHei"/>
                <a:ea typeface="Microsoft YaHei"/>
              </a:rPr>
              <a:t>视频剪辑的系统。用户只需说出「删掉有公交车的片段」「去掉前</a:t>
            </a:r>
            <a:r>
              <a:rPr lang="en-US" sz="1500">
                <a:solidFill>
                  <a:srgbClr val="1D1D1F"/>
                </a:solidFill>
                <a:latin typeface="Microsoft YaHei"/>
                <a:ea typeface="Microsoft YaHei"/>
              </a:rPr>
              <a:t> 2 </a:t>
            </a:r>
            <a:r>
              <a:rPr lang="zh-CN" sz="1500">
                <a:solidFill>
                  <a:srgbClr val="1D1D1F"/>
                </a:solidFill>
                <a:latin typeface="Microsoft YaHei"/>
                <a:ea typeface="Microsoft YaHei"/>
              </a:rPr>
              <a:t>秒并加字幕」这类口语化需求，系统就自动完成素材理解、编辑规划与成片渲染。它面向「不会专业剪辑软件、但想快速出片」的用户，把复杂的剪辑流程压缩成一句话。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109728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500">
                <a:solidFill>
                  <a:srgbClr val="1D1D1F"/>
                </a:solidFill>
                <a:latin typeface="Microsoft YaHei"/>
                <a:ea typeface="Microsoft YaHei"/>
              </a:rPr>
              <a:t>整套链路分三步：先用视觉模型与语音识别理解素材（画面里有什么、说了什么、镜头如何切分）；再由</a:t>
            </a:r>
            <a:r>
              <a:rPr lang="en-US" sz="1500">
                <a:solidFill>
                  <a:srgbClr val="1D1D1F"/>
                </a:solidFill>
                <a:latin typeface="Microsoft YaHei"/>
                <a:ea typeface="Microsoft YaHei"/>
              </a:rPr>
              <a:t> LLM </a:t>
            </a:r>
            <a:r>
              <a:rPr lang="zh-CN" sz="1500">
                <a:solidFill>
                  <a:srgbClr val="1D1D1F"/>
                </a:solidFill>
                <a:latin typeface="Microsoft YaHei"/>
                <a:ea typeface="Microsoft YaHei"/>
              </a:rPr>
              <a:t>把指令翻译成精确的编辑操作；最后交给</a:t>
            </a:r>
            <a:r>
              <a:rPr lang="en-US" sz="1500">
                <a:solidFill>
                  <a:srgbClr val="1D1D1F"/>
                </a:solidFill>
                <a:latin typeface="Microsoft YaHei"/>
                <a:ea typeface="Microsoft YaHei"/>
              </a:rPr>
              <a:t> ffmpeg </a:t>
            </a:r>
            <a:r>
              <a:rPr lang="zh-CN" sz="1500">
                <a:solidFill>
                  <a:srgbClr val="1D1D1F"/>
                </a:solidFill>
                <a:latin typeface="Microsoft YaHei"/>
                <a:ea typeface="Microsoft YaHei"/>
              </a:rPr>
              <a:t>渲染成片。系统还内置</a:t>
            </a:r>
            <a:r>
              <a:rPr lang="zh-CN" sz="1500" b="1">
                <a:solidFill>
                  <a:srgbClr val="007AFF"/>
                </a:solidFill>
                <a:latin typeface="Microsoft YaHei"/>
                <a:ea typeface="Microsoft YaHei"/>
              </a:rPr>
              <a:t>事实核对闸</a:t>
            </a:r>
            <a:r>
              <a:rPr lang="zh-CN" sz="1500">
                <a:solidFill>
                  <a:srgbClr val="1D1D1F"/>
                </a:solidFill>
                <a:latin typeface="Microsoft YaHei"/>
                <a:ea typeface="Microsoft YaHei"/>
              </a:rPr>
              <a:t>，确保弱模型规划偏差也能被自动纠正，交付物永远正确。</a:t>
            </a:r>
            <a:endParaRPr/>
          </a:p>
        </p:txBody>
      </p:sp>
      <p:pic>
        <p:nvPicPr>
          <p:cNvPr id="1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476500" y="3457575"/>
            <a:ext cx="7239000" cy="1238250"/>
          </a:xfrm>
          <a:prstGeom prst="rect">
            <a:avLst/>
          </a:prstGeom>
          <a:ln/>
        </p:spPr>
      </p:pic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86868B"/>
                </a:solidFill>
                <a:latin typeface="Microsoft YaHei"/>
                <a:ea typeface="Microsoft YaHei"/>
              </a:rPr>
              <a:t>视频剪辑智能体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04" name="" descr="&lt;Slide&gt;&#10;  &lt;Box style={{ position: 'absolute', left: 0, top: 0, width: '100%', height: '100%', background: '#FFFFFF' }} /&gt;&#10;&#10;  {/* A 标题块 */}&#10;  &lt;Text style={{ position: 'absolute', left: 64, top: 34, fontSize: 34, fontWeight: 'bold', color: '#1D1D1F' }}&gt;技术栈&lt;/Text&gt;&#10;&#10;  {/* B 内容区：非对称双栏 左说明 + 右四层 */}&#10;  &lt;Box style={{ position: 'absolute', left: 64, top: 120, right: 64, bottom: 72, flexDirection: 'row', gap: 28 }}&gt;&#10;    {/* 左 30% 说明 */}&#10;    &lt;Box style={{ width: '30%', flexDirection: 'column', justifyContent: 'center' }}&gt;&#10;      &lt;Text style={{ fontSize: 30, fontWeight: 'bold', color: '#007AFF' }}&gt;分层&lt;/Text&gt;&#10;      &lt;Text style={{ fontSize: 30, fontWeight: 'bold', color: '#1D1D1F' }}&gt;架构&lt;/Text&gt;&#10;      &lt;Text style={{ fontSize: 17, color: '#86868B', marginTop: 16, lineHeight: 1.6 }}&gt;四层各司其职：界面收指令、智能做规划、理解读素材、渲染出成片。&lt;/Text&gt;&#10;    &lt;/Box&gt;&#10;&#10;    {/* 右 70% 四层卡片 */}&#10;    &lt;Box style={{ width: '70%', flexDirection: 'column', gap: 14, justifyContent: 'center' }}&gt;&#10;      {[['界面层 · Gradio WebUI', '自然语言输入、实时预览、一键应用编译'], ['智能层 · LLM + 规则 Planner', '本地 Qwen3-0.6B / OpenAI 兼容云端，确定性兜底'], ['理解层 · FunASR + YOLOv8', '语音转写（段落级）、视觉目标检测、镜头分割'], ['渲染层 · ffmpeg', '精准剪切、字幕合成、转场、混音']].map((r, i) =&gt; (&#10;        &lt;Box key={i} style={{ background: '#E8F1FF', borderRadius: 10, padding: '14px 18px' }}&gt;&#10;          &lt;Text style={{ fontSize: 20, fontWeight: 'bold', color: '#007AFF' }}&gt;{r[0]}&lt;/Text&gt;&#10;          &lt;Text style={{ fontSize: 16, color: '#1D1D1F', marginTop: 4 }}&gt;{r[1]}&lt;/Text&gt;&#10;        &lt;/Box&gt;&#10;      ))}&#10;    &lt;/Box&gt;&#10;  &lt;/Box&gt;&#10;&#10;  {/* C 页脚 */}&#10;  &lt;Box style={{ position: 'absolute', left: 0, top: 660, width: '100%', height: 60, flexDirection: 'row', justifyContent: 'space-between', alignItems: 'center', padding: '0 64px' }}&gt;&#10;    &lt;Text style={{ fontSize: 14, color: '#86868B' }}&gt;AI 视频剪辑智能体&lt;/Text&gt;&#10;    &lt;Text style={{ fontSize: 14, color: '#86868B' }}&gt;05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971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D1D1F"/>
                </a:solidFill>
                <a:latin typeface="Microsoft YaHei"/>
                <a:ea typeface="Microsoft YaHei"/>
              </a:rPr>
              <a:t>技术栈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09600" y="2924175"/>
            <a:ext cx="3209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07AFF"/>
                </a:solidFill>
                <a:latin typeface="Microsoft YaHei"/>
                <a:ea typeface="Microsoft YaHei"/>
              </a:rPr>
              <a:t>分层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09600" y="3267075"/>
            <a:ext cx="3209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D1D1F"/>
                </a:solidFill>
                <a:latin typeface="Microsoft YaHei"/>
                <a:ea typeface="Microsoft YaHei"/>
              </a:rPr>
              <a:t>架构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09600" y="3762375"/>
            <a:ext cx="32099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86868B"/>
                </a:solidFill>
                <a:latin typeface="Microsoft YaHei"/>
                <a:ea typeface="Microsoft YaHei"/>
              </a:rPr>
              <a:t>四层各司其职：界面收指令、智能做规划、理解读素材、渲染出成片。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4086225" y="2009775"/>
            <a:ext cx="7496175" cy="723900"/>
          </a:xfrm>
          <a:prstGeom prst="roundRect">
            <a:avLst>
              <a:gd name="adj" fmla="val 13158"/>
            </a:avLst>
          </a:prstGeom>
          <a:solidFill>
            <a:srgbClr val="E8F1FF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257675" y="2143125"/>
            <a:ext cx="7153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07AFF"/>
                </a:solidFill>
                <a:latin typeface="Microsoft YaHei"/>
                <a:ea typeface="Microsoft YaHei"/>
              </a:rPr>
              <a:t>界面层</a:t>
            </a:r>
            <a:r>
              <a:rPr lang="en-US" sz="1500" b="1">
                <a:solidFill>
                  <a:srgbClr val="007AFF"/>
                </a:solidFill>
                <a:latin typeface="Microsoft YaHei"/>
                <a:ea typeface="Microsoft YaHei"/>
              </a:rPr>
              <a:t> · Gradio WebUI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257675" y="2409825"/>
            <a:ext cx="7153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D1F"/>
                </a:solidFill>
                <a:latin typeface="Microsoft YaHei"/>
                <a:ea typeface="Microsoft YaHei"/>
              </a:rPr>
              <a:t>自然语言输入、实时预览、一键应用编译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4086225" y="2867025"/>
            <a:ext cx="7496175" cy="723900"/>
          </a:xfrm>
          <a:prstGeom prst="roundRect">
            <a:avLst>
              <a:gd name="adj" fmla="val 13158"/>
            </a:avLst>
          </a:prstGeom>
          <a:solidFill>
            <a:srgbClr val="E8F1FF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257675" y="3000375"/>
            <a:ext cx="7153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07AFF"/>
                </a:solidFill>
                <a:latin typeface="Microsoft YaHei"/>
                <a:ea typeface="Microsoft YaHei"/>
              </a:rPr>
              <a:t>智能层</a:t>
            </a:r>
            <a:r>
              <a:rPr lang="en-US" sz="1500" b="1">
                <a:solidFill>
                  <a:srgbClr val="007AFF"/>
                </a:solidFill>
                <a:latin typeface="Microsoft YaHei"/>
                <a:ea typeface="Microsoft YaHei"/>
              </a:rPr>
              <a:t> · LLM + </a:t>
            </a:r>
            <a:r>
              <a:rPr lang="zh-CN" sz="1500" b="1">
                <a:solidFill>
                  <a:srgbClr val="007AFF"/>
                </a:solidFill>
                <a:latin typeface="Microsoft YaHei"/>
                <a:ea typeface="Microsoft YaHei"/>
              </a:rPr>
              <a:t>规则</a:t>
            </a:r>
            <a:r>
              <a:rPr lang="en-US" sz="1500" b="1">
                <a:solidFill>
                  <a:srgbClr val="007AFF"/>
                </a:solidFill>
                <a:latin typeface="Microsoft YaHei"/>
                <a:ea typeface="Microsoft YaHei"/>
              </a:rPr>
              <a:t> Planner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4257675" y="3267075"/>
            <a:ext cx="7153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D1F"/>
                </a:solidFill>
                <a:latin typeface="Microsoft YaHei"/>
                <a:ea typeface="Microsoft YaHei"/>
              </a:rPr>
              <a:t>本地</a:t>
            </a:r>
            <a:r>
              <a:rPr lang="en-US" sz="1200">
                <a:solidFill>
                  <a:srgbClr val="1D1D1F"/>
                </a:solidFill>
                <a:latin typeface="Microsoft YaHei"/>
                <a:ea typeface="Microsoft YaHei"/>
              </a:rPr>
              <a:t> Qwen3-0.6B / OpenAI </a:t>
            </a:r>
            <a:r>
              <a:rPr lang="zh-CN" sz="1200">
                <a:solidFill>
                  <a:srgbClr val="1D1D1F"/>
                </a:solidFill>
                <a:latin typeface="Microsoft YaHei"/>
                <a:ea typeface="Microsoft YaHei"/>
              </a:rPr>
              <a:t>兼容云端，确定性兜底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4086225" y="3724275"/>
            <a:ext cx="7496175" cy="723900"/>
          </a:xfrm>
          <a:prstGeom prst="roundRect">
            <a:avLst>
              <a:gd name="adj" fmla="val 13158"/>
            </a:avLst>
          </a:prstGeom>
          <a:solidFill>
            <a:srgbClr val="E8F1FF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257675" y="3857625"/>
            <a:ext cx="7153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07AFF"/>
                </a:solidFill>
                <a:latin typeface="Microsoft YaHei"/>
                <a:ea typeface="Microsoft YaHei"/>
              </a:rPr>
              <a:t>理解层</a:t>
            </a:r>
            <a:r>
              <a:rPr lang="en-US" sz="1500" b="1">
                <a:solidFill>
                  <a:srgbClr val="007AFF"/>
                </a:solidFill>
                <a:latin typeface="Microsoft YaHei"/>
                <a:ea typeface="Microsoft YaHei"/>
              </a:rPr>
              <a:t> · FunASR + YOLOv8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257675" y="4124325"/>
            <a:ext cx="7153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D1F"/>
                </a:solidFill>
                <a:latin typeface="Microsoft YaHei"/>
                <a:ea typeface="Microsoft YaHei"/>
              </a:rPr>
              <a:t>语音转写（段落级）、视觉目标检测、镜头分割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4086225" y="4581525"/>
            <a:ext cx="7496175" cy="723900"/>
          </a:xfrm>
          <a:prstGeom prst="roundRect">
            <a:avLst>
              <a:gd name="adj" fmla="val 13158"/>
            </a:avLst>
          </a:prstGeom>
          <a:solidFill>
            <a:srgbClr val="E8F1FF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257675" y="4714875"/>
            <a:ext cx="7153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07AFF"/>
                </a:solidFill>
                <a:latin typeface="Microsoft YaHei"/>
                <a:ea typeface="Microsoft YaHei"/>
              </a:rPr>
              <a:t>渲染层</a:t>
            </a:r>
            <a:r>
              <a:rPr lang="en-US" sz="1500" b="1">
                <a:solidFill>
                  <a:srgbClr val="007AFF"/>
                </a:solidFill>
                <a:latin typeface="Microsoft YaHei"/>
                <a:ea typeface="Microsoft YaHei"/>
              </a:rPr>
              <a:t> · ffmpeg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257675" y="4981575"/>
            <a:ext cx="7153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D1D1F"/>
                </a:solidFill>
                <a:latin typeface="Microsoft YaHei"/>
                <a:ea typeface="Microsoft YaHei"/>
              </a:rPr>
              <a:t>精准剪切、字幕合成、转场、混音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86868B"/>
                </a:solidFill>
                <a:latin typeface="Microsoft YaHei"/>
                <a:ea typeface="Microsoft YaHei"/>
              </a:rPr>
              <a:t>视频剪辑智能体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24" name="" descr="&lt;Slide&gt;&#10;  &lt;Box style={{ position: 'absolute', left: 0, top: 0, width: '100%', height: '100%', background: '#FFFFFF' }} /&gt;&#10;&#10;  &lt;Box style={{ position: 'absolute', left: 120, top: 168 }}&gt;&#10;    &lt;Text style={{ fontSize: 130, fontWeight: 'bold', color: '#007AFF', lineHeight: 1 }}&gt;02&lt;/Text&gt;&#10;  &lt;/Box&gt;&#10;&#10;  &lt;Box style={{ position: 'absolute', left: 410, top: 250, flexDirection: 'column' }}&gt;&#10;    &lt;Text style={{ fontSize: 52, fontWeight: 'bold', color: '#1D1D1F' }}&gt;第二章&lt;/Text&gt;&#10;    &lt;Text style={{ fontSize: 52, fontWeight: 'bold', color: '#1D1D1F', marginTop: 6 }}&gt;核心能力与架构&lt;/Text&gt;&#10;    &lt;Text style={{ fontSize: 20, color: '#86868B', marginTop: 22 }}&gt;功能矩阵与系统架构&lt;/Text&gt;&#10;  &lt;/Box&gt;&#10;&#10;  &lt;Box style={{ position: 'absolute', left: 0, top: 660, width: '100%', height: 60, flexDirection: 'row', justifyContent: 'space-between', alignItems: 'center', padding: '0 64px' }}&gt;&#10;    &lt;Text style={{ fontSize: 14, color: '#86868B' }}&gt;AI 视频剪辑智能体&lt;/Text&gt;&#10;    &lt;Text style={{ fontSize: 14, color: '#86868B' }}&gt;06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143000" y="1600200"/>
            <a:ext cx="1533525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07A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3905250" y="2381250"/>
            <a:ext cx="34671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1D1D1F"/>
                </a:solidFill>
                <a:latin typeface="Microsoft YaHei"/>
                <a:ea typeface="Microsoft YaHei"/>
              </a:rPr>
              <a:t>第二章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905250" y="3038475"/>
            <a:ext cx="34671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1D1D1F"/>
                </a:solidFill>
                <a:latin typeface="Microsoft YaHei"/>
                <a:ea typeface="Microsoft YaHei"/>
              </a:rPr>
              <a:t>核心能力与架构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905250" y="3848100"/>
            <a:ext cx="3467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6868B"/>
                </a:solidFill>
                <a:latin typeface="Microsoft YaHei"/>
                <a:ea typeface="Microsoft YaHei"/>
              </a:rPr>
              <a:t>功能矩阵与系统架构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86868B"/>
                </a:solidFill>
                <a:latin typeface="Microsoft YaHei"/>
                <a:ea typeface="Microsoft YaHei"/>
              </a:rPr>
              <a:t>视频剪辑智能体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32" name="" descr="&lt;Slide&gt;&#10;  &lt;Box style={{ position: 'absolute', left: 0, top: 0, width: '100%', height: '100%', background: '#FFFFFF' }} /&gt;&#10;&#10;  &lt;Text style={{ position: 'absolute', left: 64, top: 34, fontSize: 34, fontWeight: 'bold', color: '#1D1D1F' }}&gt;核心能力矩阵&lt;/Text&gt;&#10;&#10;  &lt;Box style={{ position: 'absolute', left: 64, top: 120, right: 64, bottom: 72, flexDirection: 'row', gap: 28 }}&gt;&#10;    {/* 左说明 */}&#10;    &lt;Box style={{ width: '26%', flexDirection: 'column', justifyContent: 'center' }}&gt;&#10;      &lt;Text style={{ fontSize: 26, fontWeight: 'bold', color: '#007AFF' }}&gt;八项&lt;/Text&gt;&#10;      &lt;Text style={{ fontSize: 26, fontWeight: 'bold', color: '#1D1D1F' }}&gt;能力&lt;/Text&gt;&#10;      &lt;Text style={{ fontSize: 16, color: '#86868B', marginTop: 14, lineHeight: 1.6 }}&gt;覆盖「理解—规划—剪辑—渲染」全链路，亮点在语义级删除与竖屏适配。&lt;/Text&gt;&#10;    &lt;/Box&gt;&#10;&#10;    {/* 右 8 项两列 */}&#10;    &lt;Box style={{ width: '74%', flexDirection: 'row', gap: 20 }}&gt;&#10;      &lt;Box style={{ width: '50%', flexDirection: 'column', gap: 16 }}&gt;&#10;        {[['自然语言剪辑指令', '口语化描述即剪'], ['素材理解 M2', '视觉/语音/镜头三位一体'], ['按台词删除', '删掉「说」某内容的片段'], ['语义删除', '按视觉/语音检索删片段']].map((r, i) =&gt; (&#10;          &lt;Box key={i} style={{ flexDirection: 'row', alignItems: 'flex-start', gap: 10 }}&gt;&#10;            &lt;Box style={{ width: 10, height: 10, borderRadius: 5, background: '#007AFF', marginTop: 8 }} /&gt;&#10;            &lt;Box&gt;&#10;              &lt;Text style={{ fontSize: 19, fontWeight: 'bold', color: '#1D1D1F' }}&gt;{r[0]}&lt;/Text&gt;&#10;              &lt;Text style={{ fontSize: 15, color: '#86868B' }}&gt;{r[1]}&lt;/Text&gt;&#10;            &lt;/Box&gt;&#10;          &lt;/Box&gt;&#10;        ))}&#10;      &lt;/Box&gt;&#10;      &lt;Box style={{ width: '50%', flexDirection: 'column', gap: 16 }}&gt;&#10;        {[['字幕生成', '竖屏自适应、防溢出'], ['片段重排', '调整镜头顺序'], ['转场与滤镜', '淡入淡出、黑白等'], ['竖屏支持', '720×1280 全链路适配']].map((r, i) =&gt; (&#10;          &lt;Box key={i} style={{ flexDirection: 'row', alignItems: 'flex-start', gap: 10 }}&gt;&#10;            &lt;Box style={{ width: 10, height: 10, borderRadius: 5, background: '#007AFF', marginTop: 8 }} /&gt;&#10;            &lt;Box&gt;&#10;              &lt;Text style={{ fontSize: 19, fontWeight: 'bold', color: '#1D1D1F' }}&gt;{r[0]}&lt;/Text&gt;&#10;              &lt;Text style={{ fontSize: 15, color: '#86868B' }}&gt;{r[1]}&lt;/Text&gt;&#10;            &lt;/Box&gt;&#10;          &lt;/Box&gt;&#10;        ))}&#10;      &lt;/Box&gt;&#10;    &lt;/Box&gt;&#10;  &lt;/Box&gt;&#10;&#10;  &lt;Box style={{ position: 'absolute', left: 0, top: 660, width: '100%', height: 60, flexDirection: 'row', justifyContent: 'space-between', alignItems: 'center', padding: '0 64px' }}&gt;&#10;    &lt;Text style={{ fontSize: 14, color: '#86868B' }}&gt;AI 视频剪辑智能体&lt;/Text&gt;&#10;    &lt;Text style={{ fontSize: 14, color: '#86868B' }}&gt;07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D1D1F"/>
                </a:solidFill>
                <a:latin typeface="Microsoft YaHei"/>
                <a:ea typeface="Microsoft YaHei"/>
              </a:rPr>
              <a:t>核心能力矩阵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2990850"/>
            <a:ext cx="2781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07AFF"/>
                </a:solidFill>
                <a:latin typeface="Microsoft YaHei"/>
                <a:ea typeface="Microsoft YaHei"/>
              </a:rPr>
              <a:t>八项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9600" y="3295650"/>
            <a:ext cx="2781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D1D1F"/>
                </a:solidFill>
                <a:latin typeface="Microsoft YaHei"/>
                <a:ea typeface="Microsoft YaHei"/>
              </a:rPr>
              <a:t>能力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09600" y="3733800"/>
            <a:ext cx="2781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86868B"/>
                </a:solidFill>
                <a:latin typeface="Microsoft YaHei"/>
                <a:ea typeface="Microsoft YaHei"/>
              </a:rPr>
              <a:t>覆盖「理解—规划—剪辑—渲染」全链路，亮点在语义级删除与竖屏适配。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3657600" y="12192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848100" y="1143000"/>
            <a:ext cx="1447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自然语言剪辑指令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3848100" y="13620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6868B"/>
                </a:solidFill>
                <a:latin typeface="Microsoft YaHei"/>
                <a:ea typeface="Microsoft YaHei"/>
              </a:rPr>
              <a:t>口语化描述即剪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3657600" y="1762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3848100" y="1685925"/>
            <a:ext cx="1552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素材理解</a:t>
            </a:r>
            <a:r>
              <a:rPr lang="en-US" sz="1425" b="1">
                <a:solidFill>
                  <a:srgbClr val="1D1D1F"/>
                </a:solidFill>
                <a:latin typeface="Microsoft YaHei"/>
                <a:ea typeface="Microsoft YaHei"/>
              </a:rPr>
              <a:t> M2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848100" y="190500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6868B"/>
                </a:solidFill>
                <a:latin typeface="Microsoft YaHei"/>
                <a:ea typeface="Microsoft YaHei"/>
              </a:rPr>
              <a:t>视觉</a:t>
            </a:r>
            <a:r>
              <a:rPr lang="en-US" sz="1125">
                <a:solidFill>
                  <a:srgbClr val="86868B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86868B"/>
                </a:solidFill>
                <a:latin typeface="Microsoft YaHei"/>
                <a:ea typeface="Microsoft YaHei"/>
              </a:rPr>
              <a:t>语音</a:t>
            </a:r>
            <a:r>
              <a:rPr lang="en-US" sz="1125">
                <a:solidFill>
                  <a:srgbClr val="86868B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86868B"/>
                </a:solidFill>
                <a:latin typeface="Microsoft YaHei"/>
                <a:ea typeface="Microsoft YaHei"/>
              </a:rPr>
              <a:t>镜头三位一体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3657600" y="2305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848100" y="2228850"/>
            <a:ext cx="1571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按台词删除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3848100" y="2447925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6868B"/>
                </a:solidFill>
                <a:latin typeface="Microsoft YaHei"/>
                <a:ea typeface="Microsoft YaHei"/>
              </a:rPr>
              <a:t>删掉「说」某内容的片段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3657600" y="28479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3848100" y="2771775"/>
            <a:ext cx="1495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语义删除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3848100" y="2990850"/>
            <a:ext cx="1495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6868B"/>
                </a:solidFill>
                <a:latin typeface="Microsoft YaHei"/>
                <a:ea typeface="Microsoft YaHei"/>
              </a:rPr>
              <a:t>按视觉</a:t>
            </a:r>
            <a:r>
              <a:rPr lang="en-US" sz="1125">
                <a:solidFill>
                  <a:srgbClr val="86868B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86868B"/>
                </a:solidFill>
                <a:latin typeface="Microsoft YaHei"/>
                <a:ea typeface="Microsoft YaHei"/>
              </a:rPr>
              <a:t>语音检索删片段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7715250" y="12192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905750" y="1143000"/>
            <a:ext cx="1285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字幕生成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905750" y="136207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6868B"/>
                </a:solidFill>
                <a:latin typeface="Microsoft YaHei"/>
                <a:ea typeface="Microsoft YaHei"/>
              </a:rPr>
              <a:t>竖屏自适应、防溢出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7715250" y="1762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905750" y="1685925"/>
            <a:ext cx="857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片段重排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905750" y="19050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6868B"/>
                </a:solidFill>
                <a:latin typeface="Microsoft YaHei"/>
                <a:ea typeface="Microsoft YaHei"/>
              </a:rPr>
              <a:t>调整镜头顺序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7715250" y="2305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905750" y="2228850"/>
            <a:ext cx="1143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转场与滤镜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905750" y="2447925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6868B"/>
                </a:solidFill>
                <a:latin typeface="Microsoft YaHei"/>
                <a:ea typeface="Microsoft YaHei"/>
              </a:rPr>
              <a:t>淡入淡出、黑白等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7715250" y="28479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7AFF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7905750" y="2771775"/>
            <a:ext cx="1457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D1D1F"/>
                </a:solidFill>
                <a:latin typeface="Microsoft YaHei"/>
                <a:ea typeface="Microsoft YaHei"/>
              </a:rPr>
              <a:t>竖屏支持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905750" y="2990850"/>
            <a:ext cx="1457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6868B"/>
                </a:solidFill>
                <a:latin typeface="Microsoft YaHei"/>
                <a:ea typeface="Microsoft YaHei"/>
              </a:rPr>
              <a:t>720×1280 </a:t>
            </a:r>
            <a:r>
              <a:rPr lang="zh-CN" sz="1125">
                <a:solidFill>
                  <a:srgbClr val="86868B"/>
                </a:solidFill>
                <a:latin typeface="Microsoft YaHei"/>
                <a:ea typeface="Microsoft YaHei"/>
              </a:rPr>
              <a:t>全链路适配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86868B"/>
                </a:solidFill>
                <a:latin typeface="Microsoft YaHei"/>
                <a:ea typeface="Microsoft YaHei"/>
              </a:rPr>
              <a:t>视频剪辑智能体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64" name="" descr="&lt;Slide&gt;&#10;  &lt;Box style={{ position: 'absolute', left: 0, top: 0, width: '100%', height: '100%', background: '#FFFFFF' }} /&gt;&#10;&#10;  &lt;Text style={{ position: 'absolute', left: 64, top: 34, fontSize: 34, fontWeight: 'bold', color: '#1D1D1F' }}&gt;系统架构&lt;/Text&gt;&#10;&#10;  &lt;Box style={{ position: 'absolute', left: 64, top: 120, right: 64, bottom: 72, flexDirection: 'row', gap: 24 }}&gt;&#10;    {/* 左 58% 架构 SVG */}&#10;    &lt;Box style={{ width: '58%', alignItems: 'center', justifyContent: 'center' }}&gt;&#10;      &lt;svg width={620} height={400} viewBox='0 0 620 400'&gt;&#10;        &lt;rect x='245' y='20' width='130' height='58' rx='10' fill='#E8F1FF' stroke='#007AFF' strokeWidth='1.5' /&gt;&#10;        &lt;text x='310' y='42' textAnchor='middle' fontSize='16' fill='#1D1D1F' fontWeight='bold'&gt;素材理解&lt;/text&gt;&#10;        &lt;text x='310' y='62' textAnchor='middle' fontSize='13' fill='#86868B'&gt;Understand&lt;/text&gt;&#10;        &lt;rect x='20' y='210' width='120' height='58' rx='10' fill='#E8F1FF' stroke='#007AFF' strokeWidth='1.5' /&gt;&#10;        &lt;text x='80' y='232' textAnchor='middle' fontSize='15' fill='#1D1D1F' fontWeight='bold'&gt;界面&lt;/text&gt;&#10;        &lt;text x='80' y='252' textAnchor='middle' fontSize='12' fill='#86868B'&gt;ui&lt;/text&gt;&#10;        &lt;rect x='160' y='210' width='120' height='58' rx='10' fill='#E8F1FF' stroke='#007AFF' strokeWidth='1.5' /&gt;&#10;        &lt;text x='220' y='232' textAnchor='middle' fontSize='15' fill='#1D1D1F' fontWeight='bold'&gt;智能规划&lt;/text&gt;&#10;        &lt;text x='220' y='252' textAnchor='middle' fontSize='12' fill='#86868B'&gt;agent&lt;/text&gt;&#10;        &lt;rect x='300' y='210' width='120' height='58' rx='10' fill='#E8F1FF' stroke='#007AFF' strokeWidth='1.5' /&gt;&#10;        &lt;text x='360' y='232' textAnchor='middle' fontSize='15' fill='#1D1D1F' fontWeight='bold'&gt;编辑操作&lt;/text&gt;&#10;        &lt;text x='360' y='252' textAnchor='middle' fontSize='12' fill='#86868B'&gt;operations&lt;/text&gt;&#10;        &lt;rect x='440' y='210' width='120' height='58' rx='10' fill='#E8F1FF' stroke='#007AFF' strokeWidth='1.5' /&gt;&#10;        &lt;text x='500' y='232' textAnchor='middle' fontSize='15' fill='#1D1D1F' fontWeight='bold'&gt;编译&lt;/text&gt;&#10;        &lt;text x='500' y='252' textAnchor='middle' fontSize='12' fill='#86868B'&gt;compiler&lt;/text&gt;&#10;        &lt;rect x='440' y='320' width='120' height='58' rx='10' fill='#E8F1FF' stroke='#007AFF' strokeWidth='1.5' /&gt;&#10;        &lt;text x='500' y='342' textAnchor='middle' fontSize='15' fill='#1D1D1F' fontWeight='bold'&gt;渲染&lt;/text&gt;&#10;        &lt;text x='500' y='362' textAnchor='middle' fontSize='12' fill='#86868B'&gt;render&lt;/text&gt;&#10;        {/* 箭头 understand-&gt;agent */}&#10;        &lt;path d='M275 90 L220 205' stroke='#007AFF' strokeWidth='2' /&gt;&#10;        &lt;path d='M227 196 L220 208 L238 202 Z' fill='#007AFF' /&gt;&#10;        {/* 主链 ui-&gt;agent-&gt;ops-&gt;compiler */}&#10;        &lt;path d='M142 239 L158 239' stroke='#007AFF' strokeWidth='2' /&gt;&#10;        &lt;path d='M158 232 L168 239 L158 246 Z' fill='#007AFF' /&gt;&#10;        &lt;path d='M282 239 L298 239' stroke='#007AFF' strokeWidth='2' /&gt;&#10;        &lt;path d='M298 232 L308 239 L298 246 Z' fill='#007AFF' /&gt;&#10;        &lt;path d='M422 239 L438 239' stroke='#007AFF' strokeWidth='2' /&gt;&#10;        &lt;path d='M438 232 L448 239 L438 246 Z' fill='#007AFF' /&gt;&#10;        {/* compiler-&gt;render */}&#10;        &lt;path d='M500 269 L500 318' stroke='#007AFF' strokeWidth='2' /&gt;&#10;        &lt;path d='M493 318 L500 328 L507 318 Z' fill='#007AFF' /&gt;&#10;      &lt;/svg&gt;&#10;    &lt;/Box&gt;&#10;&#10;    {/* 右 42% 文字 */}&#10;    &lt;Box style={{ width: '42%', flexDirection: 'column', justifyContent: 'center', gap: 14 }}&gt;&#10;      &lt;Text style={{ fontSize: 18, color: '#1D1D1F', lineHeight: 1.6 }}&gt;用户指令经 &lt;span style={{ fontWeight: 'bold', color: '#007AFF' }}&gt;UI&lt;/span&gt; 进入 &lt;span style={{ fontWeight: 'bold', color: '#007AFF' }}&gt;Agent&lt;/span&gt;。&lt;/Text&gt;&#10;      &lt;Text style={{ fontSize: 18, color: '#1D1D1F', lineHeight: 1.6 }}&gt;Agent 调用 Understand 的素材事实做 LLM 规划，并用&lt;span style={{ fontWeight: 'bold', color: '#007AFF' }}&gt;事实核对闸&lt;/span&gt;纠正弱模型偏差。&lt;/Text&gt;&#10;      &lt;Text style={{ fontSize: 18, color: '#1D1D1F', lineHeight: 1.6 }}&gt;产出编辑操作 → Compiler 编译 → Render（ffmpeg）渲染成片。&lt;/Text&gt;&#10;      &lt;Text style={{ fontSize: 16, color: '#86868B', marginTop: 6, lineHeight: 1.6 }}&gt;六模块职责清晰、数据单向流动，便于测试与替换。&lt;/Text&gt;&#10;    &lt;/Box&gt;&#10;  &lt;/Box&gt;&#10;&#10;  &lt;Box style={{ position: 'absolute', left: 0, top: 660, width: '100%', height: 60, flexDirection: 'row', justifyContent: 'space-between', alignItems: 'center', padding: '0 64px' }}&gt;&#10;    &lt;Text style={{ fontSize: 14, color: '#86868B' }}&gt;AI 视频剪辑智能体&lt;/Text&gt;&#10;    &lt;Text style={{ fontSize: 14, color: '#86868B' }}&gt;08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D1D1F"/>
                </a:solidFill>
                <a:latin typeface="Microsoft YaHei"/>
                <a:ea typeface="Microsoft YaHei"/>
              </a:rPr>
              <a:t>系统架构</a:t>
            </a:r>
            <a:endParaRPr/>
          </a:p>
        </p:txBody>
      </p:sp>
      <p:pic>
        <p:nvPicPr>
          <p:cNvPr id="1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71525" y="1752600"/>
            <a:ext cx="5905500" cy="3810000"/>
          </a:xfrm>
          <a:prstGeom prst="rect">
            <a:avLst/>
          </a:prstGeom>
          <a:ln/>
        </p:spPr>
      </p:pic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067550" y="2447925"/>
            <a:ext cx="45148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用户指令经</a:t>
            </a: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 </a:t>
            </a:r>
            <a:r>
              <a:rPr lang="en-US" sz="1350" b="1">
                <a:solidFill>
                  <a:srgbClr val="007AFF"/>
                </a:solidFill>
                <a:latin typeface="Microsoft YaHei"/>
                <a:ea typeface="Microsoft YaHei"/>
              </a:rPr>
              <a:t>UI</a:t>
            </a: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进入</a:t>
            </a: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 </a:t>
            </a:r>
            <a:r>
              <a:rPr lang="en-US" sz="1350" b="1">
                <a:solidFill>
                  <a:srgbClr val="007AFF"/>
                </a:solidFill>
                <a:latin typeface="Microsoft YaHei"/>
                <a:ea typeface="Microsoft YaHei"/>
              </a:rPr>
              <a:t>Agent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067550" y="2914650"/>
            <a:ext cx="45148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Agent 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调用</a:t>
            </a: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 Understand 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的素材事实做</a:t>
            </a: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 LLM 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规划，并用</a:t>
            </a:r>
            <a:r>
              <a:rPr lang="zh-CN" sz="1350" b="1">
                <a:solidFill>
                  <a:srgbClr val="007AFF"/>
                </a:solidFill>
                <a:latin typeface="Microsoft YaHei"/>
                <a:ea typeface="Microsoft YaHei"/>
              </a:rPr>
              <a:t>事实核对闸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纠正弱模型偏差。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067550" y="3714750"/>
            <a:ext cx="45148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产出编辑操作</a:t>
            </a: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 → Compiler 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编译</a:t>
            </a: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 → Render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（</a:t>
            </a: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ffmpeg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）渲染成片。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7067550" y="4572000"/>
            <a:ext cx="45148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86868B"/>
                </a:solidFill>
                <a:latin typeface="Microsoft YaHei"/>
                <a:ea typeface="Microsoft YaHei"/>
              </a:rPr>
              <a:t>六模块职责清晰、数据单向流动，便于测试与替换。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86868B"/>
                </a:solidFill>
                <a:latin typeface="Microsoft YaHei"/>
                <a:ea typeface="Microsoft YaHei"/>
              </a:rPr>
              <a:t>视频剪辑智能体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74" name="" descr="&lt;Slide&gt;&#10;  &lt;Box style={{ position: 'absolute', left: 0, top: 0, width: '100%', height: '100%', background: '#FFFFFF' }} /&gt;&#10;&#10;  &lt;Box style={{ position: 'absolute', left: 120, top: 168 }}&gt;&#10;    &lt;Text style={{ fontSize: 130, fontWeight: 'bold', color: '#007AFF', lineHeight: 1 }}&gt;03&lt;/Text&gt;&#10;  &lt;/Box&gt;&#10;&#10;  &lt;Box style={{ position: 'absolute', left: 410, top: 250, flexDirection: 'column' }}&gt;&#10;    &lt;Text style={{ fontSize: 52, fontWeight: 'bold', color: '#1D1D1F' }}&gt;第三章&lt;/Text&gt;&#10;    &lt;Text style={{ fontSize: 52, fontWeight: 'bold', color: '#1D1D1F', marginTop: 6 }}&gt;工程攻坚与质量保障&lt;/Text&gt;&#10;    &lt;Text style={{ fontSize: 20, color: '#86868B', marginTop: 22 }}&gt;缺陷修复 · 性能 · 验收 · 交付&lt;/Text&gt;&#10;  &lt;/Box&gt;&#10;&#10;  &lt;Box style={{ position: 'absolute', left: 0, top: 660, width: '100%', height: 60, flexDirection: 'row', justifyContent: 'space-between', alignItems: 'center', padding: '0 64px' }}&gt;&#10;    &lt;Text style={{ fontSize: 14, color: '#86868B' }}&gt;AI 视频剪辑智能体&lt;/Text&gt;&#10;    &lt;Text style={{ fontSize: 14, color: '#86868B' }}&gt;09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143000" y="1600200"/>
            <a:ext cx="1533525" cy="1485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0" b="1">
                <a:solidFill>
                  <a:srgbClr val="007A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905250" y="2381250"/>
            <a:ext cx="44577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1D1D1F"/>
                </a:solidFill>
                <a:latin typeface="Microsoft YaHei"/>
                <a:ea typeface="Microsoft YaHei"/>
              </a:rPr>
              <a:t>第三章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3905250" y="3038475"/>
            <a:ext cx="44577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1D1D1F"/>
                </a:solidFill>
                <a:latin typeface="Microsoft YaHei"/>
                <a:ea typeface="Microsoft YaHei"/>
              </a:rPr>
              <a:t>工程攻坚与质量保障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3905250" y="3848100"/>
            <a:ext cx="4457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6868B"/>
                </a:solidFill>
                <a:latin typeface="Microsoft YaHei"/>
                <a:ea typeface="Microsoft YaHei"/>
              </a:rPr>
              <a:t>缺陷修复</a:t>
            </a:r>
            <a:r>
              <a:rPr lang="en-US" sz="1500">
                <a:solidFill>
                  <a:srgbClr val="86868B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86868B"/>
                </a:solidFill>
                <a:latin typeface="Microsoft YaHei"/>
                <a:ea typeface="Microsoft YaHei"/>
              </a:rPr>
              <a:t>性能</a:t>
            </a:r>
            <a:r>
              <a:rPr lang="en-US" sz="1500">
                <a:solidFill>
                  <a:srgbClr val="86868B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86868B"/>
                </a:solidFill>
                <a:latin typeface="Microsoft YaHei"/>
                <a:ea typeface="Microsoft YaHei"/>
              </a:rPr>
              <a:t>验收</a:t>
            </a:r>
            <a:r>
              <a:rPr lang="en-US" sz="1500">
                <a:solidFill>
                  <a:srgbClr val="86868B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86868B"/>
                </a:solidFill>
                <a:latin typeface="Microsoft YaHei"/>
                <a:ea typeface="Microsoft YaHei"/>
              </a:rPr>
              <a:t>交付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86868B"/>
                </a:solidFill>
                <a:latin typeface="Microsoft YaHei"/>
                <a:ea typeface="Microsoft YaHei"/>
              </a:rPr>
              <a:t>视频剪辑智能体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&gt;&#10;  &lt;Box style={{ position: 'absolute', left: 0, top: 0, width: '100%', height: '100%', background: '#FFFFFF' }} /&gt;&#10;&#10;  {/* 巨型数字锚点 */}&#10;  &lt;Box style={{ position: 'absolute', left: 64, top: 70, flexDirection: 'column' }}&gt;&#10;    &lt;Text style={{ fontSize: 96, fontWeight: 'bold', color: '#007AFF', lineHeight: 1 }}&gt;5&lt;/Text&gt;&#10;    &lt;Text style={{ fontSize: 20, color: '#86868B', marginTop: 4 }}&gt;个真实缺陷&lt;/Text&gt;&#10;  &lt;/Box&gt;&#10;&#10;  {/* 标题 */}&#10;  &lt;Box style={{ position: 'absolute', left: 280, top: 86 }}&gt;&#10;    &lt;Text style={{ fontSize: 38, fontWeight: 'bold', color: '#1D1D1F' }}&gt;工程攻坚：真机照出的 Bug&lt;/Text&gt;&#10;    &lt;Text style={{ fontSize: 18, color: '#86868B', marginTop: 8 }}&gt;素材与本地模型首次跑通即暴露，而非靠理论推断&lt;/Text&gt;&#10;  &lt;/Box&gt;&#10;&#10;  {/* 5 个 bug 列表 */}&#10;  &lt;Box style={{ position: 'absolute', left: 64, top: 240, right: 64, flexDirection: 'column', gap: 15 }}&gt;&#10;    {[['N', '语义删除只删关键帧跨度，漏掉整个镜头（残留画面）'], ['O', '竖屏 / 小分辨率下字幕横向溢出被裁（仅竖屏素材暴露）'], ['P', 'ASR 幻觉 + 段落级时间戳缺失，纯音乐被转出垃圾'], ['Q', '提示词契约零测试，且对模型宣称不存在的事实'], ['R', '弱模型少删 / 多删不报错 → 已加事实核对闸自动纠正']].map((r, i) =&gt; (&#10;      &lt;Box key={i} style={{ flexDirection: 'row', alignItems: 'center', gap: 16, background: '#E8F1FF', borderRadius: 10, padding: '12px 18px' }}&gt;&#10;        &lt;Text style={{ fontSize: 28, fontWeight: 'bold', color: '#007AFF' }}&gt;{r[0]}&lt;/Text&gt;&#10;        &lt;Text style={{ fontSize: 19, color: '#1D1D1F' }}&gt;{r[1]}&lt;/Text&gt;&#10;      &lt;/Box&gt;&#10;    ))}&#10;  &lt;/Box&gt;&#10;&#10;  &lt;Box style={{ position: 'absolute', left: 0, top: 660, width: '100%', height: 60, flexDirection: 'row', justifyContent: 'space-between', alignItems: 'center', padding: '0 64px' }}&gt;&#10;    &lt;Text style={{ fontSize: 14, color: '#86868B' }}&gt;AI 视频剪辑智能体&lt;/Text&gt;&#10;    &lt;Text style={{ fontSize: 14, color: '#86868B' }}&gt;10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09600" y="666750"/>
            <a:ext cx="9525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007A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9600" y="180975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6868B"/>
                </a:solidFill>
                <a:latin typeface="Microsoft YaHei"/>
                <a:ea typeface="Microsoft YaHei"/>
              </a:rPr>
              <a:t>个真实缺陷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2667000" y="819150"/>
            <a:ext cx="44577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1D1D1F"/>
                </a:solidFill>
                <a:latin typeface="Microsoft YaHei"/>
                <a:ea typeface="Microsoft YaHei"/>
              </a:rPr>
              <a:t>工程攻坚：真机照出的</a:t>
            </a:r>
            <a:r>
              <a:rPr lang="en-US" sz="2850" b="1">
                <a:solidFill>
                  <a:srgbClr val="1D1D1F"/>
                </a:solidFill>
                <a:latin typeface="Microsoft YaHei"/>
                <a:ea typeface="Microsoft YaHei"/>
              </a:rPr>
              <a:t> Bug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2667000" y="1333500"/>
            <a:ext cx="4457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6868B"/>
                </a:solidFill>
                <a:latin typeface="Microsoft YaHei"/>
                <a:ea typeface="Microsoft YaHei"/>
              </a:rPr>
              <a:t>素材与本地模型首次跑通即暴露，而非靠理论推断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09600" y="2286000"/>
            <a:ext cx="10972800" cy="552450"/>
          </a:xfrm>
          <a:prstGeom prst="roundRect">
            <a:avLst>
              <a:gd name="adj" fmla="val 17241"/>
            </a:avLst>
          </a:prstGeom>
          <a:solidFill>
            <a:srgbClr val="E8F1FF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81050" y="2400300"/>
            <a:ext cx="2286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07AFF"/>
                </a:solidFill>
                <a:latin typeface="Microsoft YaHei"/>
                <a:ea typeface="Microsoft YaHei"/>
              </a:rPr>
              <a:t>N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62050" y="2457450"/>
            <a:ext cx="434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D1D1F"/>
                </a:solidFill>
                <a:latin typeface="Microsoft YaHei"/>
                <a:ea typeface="Microsoft YaHei"/>
              </a:rPr>
              <a:t>语义删除只删关键帧跨度，漏掉整个镜头（残留画面）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609600" y="2981325"/>
            <a:ext cx="10972800" cy="552450"/>
          </a:xfrm>
          <a:prstGeom prst="roundRect">
            <a:avLst>
              <a:gd name="adj" fmla="val 17241"/>
            </a:avLst>
          </a:prstGeom>
          <a:solidFill>
            <a:srgbClr val="E8F1FF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81050" y="3095625"/>
            <a:ext cx="2190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07AFF"/>
                </a:solidFill>
                <a:latin typeface="Microsoft YaHei"/>
                <a:ea typeface="Microsoft YaHei"/>
              </a:rPr>
              <a:t>O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152525" y="3152775"/>
            <a:ext cx="453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D1D1F"/>
                </a:solidFill>
                <a:latin typeface="Microsoft YaHei"/>
                <a:ea typeface="Microsoft YaHei"/>
              </a:rPr>
              <a:t>竖屏</a:t>
            </a:r>
            <a:r>
              <a:rPr lang="en-US" sz="1425">
                <a:solidFill>
                  <a:srgbClr val="1D1D1F"/>
                </a:solidFill>
                <a:latin typeface="Microsoft YaHei"/>
                <a:ea typeface="Microsoft YaHei"/>
              </a:rPr>
              <a:t> / </a:t>
            </a:r>
            <a:r>
              <a:rPr lang="zh-CN" sz="1425">
                <a:solidFill>
                  <a:srgbClr val="1D1D1F"/>
                </a:solidFill>
                <a:latin typeface="Microsoft YaHei"/>
                <a:ea typeface="Microsoft YaHei"/>
              </a:rPr>
              <a:t>小分辨率下字幕横向溢出被裁（仅竖屏素材暴露）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09600" y="3676650"/>
            <a:ext cx="10972800" cy="552450"/>
          </a:xfrm>
          <a:prstGeom prst="roundRect">
            <a:avLst>
              <a:gd name="adj" fmla="val 17241"/>
            </a:avLst>
          </a:prstGeom>
          <a:solidFill>
            <a:srgbClr val="E8F1F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781050" y="3790950"/>
            <a:ext cx="1809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07AFF"/>
                </a:solidFill>
                <a:latin typeface="Microsoft YaHei"/>
                <a:ea typeface="Microsoft YaHei"/>
              </a:rPr>
              <a:t>P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114425" y="3848100"/>
            <a:ext cx="40862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D1D1F"/>
                </a:solidFill>
                <a:latin typeface="Microsoft YaHei"/>
                <a:ea typeface="Microsoft YaHei"/>
              </a:rPr>
              <a:t>ASR </a:t>
            </a:r>
            <a:r>
              <a:rPr lang="zh-CN" sz="1425">
                <a:solidFill>
                  <a:srgbClr val="1D1D1F"/>
                </a:solidFill>
                <a:latin typeface="Microsoft YaHei"/>
                <a:ea typeface="Microsoft YaHei"/>
              </a:rPr>
              <a:t>幻觉</a:t>
            </a:r>
            <a:r>
              <a:rPr lang="en-US" sz="1425">
                <a:solidFill>
                  <a:srgbClr val="1D1D1F"/>
                </a:solidFill>
                <a:latin typeface="Microsoft YaHei"/>
                <a:ea typeface="Microsoft YaHei"/>
              </a:rPr>
              <a:t> + </a:t>
            </a:r>
            <a:r>
              <a:rPr lang="zh-CN" sz="1425">
                <a:solidFill>
                  <a:srgbClr val="1D1D1F"/>
                </a:solidFill>
                <a:latin typeface="Microsoft YaHei"/>
                <a:ea typeface="Microsoft YaHei"/>
              </a:rPr>
              <a:t>段落级时间戳缺失，纯音乐被转出垃圾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09600" y="4371975"/>
            <a:ext cx="10972800" cy="552450"/>
          </a:xfrm>
          <a:prstGeom prst="roundRect">
            <a:avLst>
              <a:gd name="adj" fmla="val 17241"/>
            </a:avLst>
          </a:prstGeom>
          <a:solidFill>
            <a:srgbClr val="E8F1FF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81050" y="4486275"/>
            <a:ext cx="2190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07AFF"/>
                </a:solidFill>
                <a:latin typeface="Microsoft YaHei"/>
                <a:ea typeface="Microsoft YaHei"/>
              </a:rPr>
              <a:t>Q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152525" y="4543425"/>
            <a:ext cx="38004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D1D1F"/>
                </a:solidFill>
                <a:latin typeface="Microsoft YaHei"/>
                <a:ea typeface="Microsoft YaHei"/>
              </a:rPr>
              <a:t>提示词契约零测试，且对模型宣称不存在的事实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09600" y="5067300"/>
            <a:ext cx="10972800" cy="552450"/>
          </a:xfrm>
          <a:prstGeom prst="roundRect">
            <a:avLst>
              <a:gd name="adj" fmla="val 17241"/>
            </a:avLst>
          </a:prstGeom>
          <a:solidFill>
            <a:srgbClr val="E8F1FF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81050" y="5181600"/>
            <a:ext cx="190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07AFF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123950" y="5238750"/>
            <a:ext cx="4276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D1D1F"/>
                </a:solidFill>
                <a:latin typeface="Microsoft YaHei"/>
                <a:ea typeface="Microsoft YaHei"/>
              </a:rPr>
              <a:t>弱模型少删</a:t>
            </a:r>
            <a:r>
              <a:rPr lang="en-US" sz="1425">
                <a:solidFill>
                  <a:srgbClr val="1D1D1F"/>
                </a:solidFill>
                <a:latin typeface="Microsoft YaHei"/>
                <a:ea typeface="Microsoft YaHei"/>
              </a:rPr>
              <a:t> / </a:t>
            </a:r>
            <a:r>
              <a:rPr lang="zh-CN" sz="1425">
                <a:solidFill>
                  <a:srgbClr val="1D1D1F"/>
                </a:solidFill>
                <a:latin typeface="Microsoft YaHei"/>
                <a:ea typeface="Microsoft YaHei"/>
              </a:rPr>
              <a:t>多删不报错</a:t>
            </a:r>
            <a:r>
              <a:rPr lang="en-US" sz="1425">
                <a:solidFill>
                  <a:srgbClr val="1D1D1F"/>
                </a:solidFill>
                <a:latin typeface="Microsoft YaHei"/>
                <a:ea typeface="Microsoft YaHei"/>
              </a:rPr>
              <a:t> → </a:t>
            </a:r>
            <a:r>
              <a:rPr lang="zh-CN" sz="1425">
                <a:solidFill>
                  <a:srgbClr val="1D1D1F"/>
                </a:solidFill>
                <a:latin typeface="Microsoft YaHei"/>
                <a:ea typeface="Microsoft YaHei"/>
              </a:rPr>
              <a:t>已加事实核对闸自动纠正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86868B"/>
                </a:solidFill>
                <a:latin typeface="Microsoft YaHei"/>
                <a:ea typeface="Microsoft YaHei"/>
              </a:rPr>
              <a:t>视频剪辑智能体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5" name="" descr="&lt;Slide&gt;&#10;  &lt;Box style={{ position: 'absolute', left: 0, top: 0, width: '100%', height: '100%', background: '#FFFFFF' }} /&gt;&#10;&#10;  &lt;Text style={{ position: 'absolute', left: 64, top: 34, fontSize: 34, fontWeight: 'bold', color: '#1D1D1F' }}&gt;性能优化&lt;/Text&gt;&#10;&#10;  &lt;Box style={{ position: 'absolute', left: 64, top: 120, right: 64, bottom: 72, flexDirection: 'row', gap: 24, alignItems: 'center' }}&gt;&#10;    {/* 左 55% 柱状图 */}&#10;    &lt;Box style={{ width: '55%', alignItems: 'center' }}&gt;&#10;      &lt;svg width={440} height={320} viewBox='0 0 440 320'&gt;&#10;        &lt;line x1='40' y1='270' x2='420' y2='270' stroke='#D2D2D7' strokeWidth='2' /&gt;&#10;        &lt;rect x='90' y='103' width='90' height='167' fill='#D2D2D7' /&gt;&#10;        &lt;text x='135' y='92' textAnchor='middle' fontSize='20' fill='#1D1D1F' fontWeight='bold'&gt;5.02s&lt;/text&gt;&#10;        &lt;text x='135' y='292' textAnchor='middle' fontSize='15' fill='#86868B'&gt;优化前&lt;/text&gt;&#10;        &lt;rect x='260' y='225' width='90' height='45' fill='#007AFF' /&gt;&#10;        &lt;text x='305' y='214' textAnchor='middle' fontSize='20' fill='#007AFF' fontWeight='bold'&gt;1.36s&lt;/text&gt;&#10;        &lt;text x='305' y='292' textAnchor='middle' fontSize='15' fill='#86868B'&gt;优化后&lt;/text&gt;&#10;        &lt;text x='305' y='62' textAnchor='middle' fontSize='24' fill='#007AFF' fontWeight='bold'&gt;3.7×&lt;/text&gt;&#10;      &lt;/svg&gt;&#10;    &lt;/Box&gt;&#10;&#10;    {/* 右 45% 洞察 */}&#10;    &lt;Box style={{ width: '45%', flexDirection: 'column', gap: 14 }}&gt;&#10;      &lt;Text style={{ fontSize: 24, fontWeight: 'bold', color: '#007AFF' }}&gt;3.7× 提速&lt;/Text&gt;&#10;      &lt;Text style={{ fontSize: 17, color: '#1D1D1F', lineHeight: 1.6 }}&gt;VAD 分段曾带来 3.6× 开销，拆计时定位瓶颈在「逐段起 ffmpeg 进程」。&lt;/Text&gt;&#10;      &lt;Text style={{ fontSize: 17, color: '#1D1D1F', lineHeight: 1.6 }}&gt;改为&lt;span style={{ fontWeight: 'bold', color: '#007AFF' }}&gt;内存切片 + 批量转写&lt;/span&gt;：5.02s → 1.36s。&lt;/Text&gt;&#10;      &lt;Text style={{ fontSize: 17, color: '#86868B', lineHeight: 1.6, marginTop: 6 }}&gt;端到端 42–51s → 34s。正确性优先：条数对不上即退回慢路径。&lt;/Text&gt;&#10;    &lt;/Box&gt;&#10;  &lt;/Box&gt;&#10;&#10;  &lt;Box style={{ position: 'absolute', left: 0, top: 660, width: '100%', height: 60, flexDirection: 'row', justifyContent: 'space-between', alignItems: 'center', padding: '0 64px' }}&gt;&#10;    &lt;Text style={{ fontSize: 14, color: '#86868B' }}&gt;AI 视频剪辑智能体&lt;/Text&gt;&#10;    &lt;Text style={{ fontSize: 14, color: '#86868B' }}&gt;11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D1D1F"/>
                </a:solidFill>
                <a:latin typeface="Microsoft YaHei"/>
                <a:ea typeface="Microsoft YaHei"/>
              </a:rPr>
              <a:t>性能优化</a:t>
            </a:r>
            <a:endParaRPr/>
          </a:p>
        </p:txBody>
      </p:sp>
      <p:pic>
        <p:nvPicPr>
          <p:cNvPr id="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466850" y="2133600"/>
            <a:ext cx="4191000" cy="3048000"/>
          </a:xfrm>
          <a:prstGeom prst="rect">
            <a:avLst/>
          </a:prstGeom>
          <a:ln/>
        </p:spPr>
      </p:pic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743700" y="2667000"/>
            <a:ext cx="4838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07AFF"/>
                </a:solidFill>
                <a:latin typeface="Microsoft YaHei"/>
                <a:ea typeface="Microsoft YaHei"/>
              </a:rPr>
              <a:t>3.7× </a:t>
            </a:r>
            <a:r>
              <a:rPr lang="zh-CN" sz="1800" b="1">
                <a:solidFill>
                  <a:srgbClr val="007AFF"/>
                </a:solidFill>
                <a:latin typeface="Microsoft YaHei"/>
                <a:ea typeface="Microsoft YaHei"/>
              </a:rPr>
              <a:t>提速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743700" y="3076575"/>
            <a:ext cx="48387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1D1D1F"/>
                </a:solidFill>
                <a:latin typeface="Microsoft YaHei"/>
                <a:ea typeface="Microsoft YaHei"/>
              </a:rPr>
              <a:t>VAD </a:t>
            </a:r>
            <a:r>
              <a:rPr lang="zh-CN" sz="1275">
                <a:solidFill>
                  <a:srgbClr val="1D1D1F"/>
                </a:solidFill>
                <a:latin typeface="Microsoft YaHei"/>
                <a:ea typeface="Microsoft YaHei"/>
              </a:rPr>
              <a:t>分段曾带来</a:t>
            </a:r>
            <a:r>
              <a:rPr lang="en-US" sz="1275">
                <a:solidFill>
                  <a:srgbClr val="1D1D1F"/>
                </a:solidFill>
                <a:latin typeface="Microsoft YaHei"/>
                <a:ea typeface="Microsoft YaHei"/>
              </a:rPr>
              <a:t> 3.6× </a:t>
            </a:r>
            <a:r>
              <a:rPr lang="zh-CN" sz="1275">
                <a:solidFill>
                  <a:srgbClr val="1D1D1F"/>
                </a:solidFill>
                <a:latin typeface="Microsoft YaHei"/>
                <a:ea typeface="Microsoft YaHei"/>
              </a:rPr>
              <a:t>开销，拆计时定位瓶颈在「逐段起</a:t>
            </a:r>
            <a:r>
              <a:rPr lang="en-US" sz="1275">
                <a:solidFill>
                  <a:srgbClr val="1D1D1F"/>
                </a:solidFill>
                <a:latin typeface="Microsoft YaHei"/>
                <a:ea typeface="Microsoft YaHei"/>
              </a:rPr>
              <a:t> ffmpeg </a:t>
            </a:r>
            <a:r>
              <a:rPr lang="zh-CN" sz="1275">
                <a:solidFill>
                  <a:srgbClr val="1D1D1F"/>
                </a:solidFill>
                <a:latin typeface="Microsoft YaHei"/>
                <a:ea typeface="Microsoft YaHei"/>
              </a:rPr>
              <a:t>进程」。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743700" y="3838575"/>
            <a:ext cx="48387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D1D1F"/>
                </a:solidFill>
                <a:latin typeface="Microsoft YaHei"/>
                <a:ea typeface="Microsoft YaHei"/>
              </a:rPr>
              <a:t>改为</a:t>
            </a:r>
            <a:r>
              <a:rPr lang="zh-CN" sz="1275" b="1">
                <a:solidFill>
                  <a:srgbClr val="007AFF"/>
                </a:solidFill>
                <a:latin typeface="Microsoft YaHei"/>
                <a:ea typeface="Microsoft YaHei"/>
              </a:rPr>
              <a:t>内存切片</a:t>
            </a:r>
            <a:r>
              <a:rPr lang="en-US" sz="1275" b="1">
                <a:solidFill>
                  <a:srgbClr val="007AFF"/>
                </a:solidFill>
                <a:latin typeface="Microsoft YaHei"/>
                <a:ea typeface="Microsoft YaHei"/>
              </a:rPr>
              <a:t> + </a:t>
            </a:r>
            <a:r>
              <a:rPr lang="zh-CN" sz="1275" b="1">
                <a:solidFill>
                  <a:srgbClr val="007AFF"/>
                </a:solidFill>
                <a:latin typeface="Microsoft YaHei"/>
                <a:ea typeface="Microsoft YaHei"/>
              </a:rPr>
              <a:t>批量转写</a:t>
            </a:r>
            <a:r>
              <a:rPr lang="zh-CN" sz="1275">
                <a:solidFill>
                  <a:srgbClr val="1D1D1F"/>
                </a:solidFill>
                <a:latin typeface="Microsoft YaHei"/>
                <a:ea typeface="Microsoft YaHei"/>
              </a:rPr>
              <a:t>：</a:t>
            </a:r>
            <a:r>
              <a:rPr lang="en-US" sz="1275">
                <a:solidFill>
                  <a:srgbClr val="1D1D1F"/>
                </a:solidFill>
                <a:latin typeface="Microsoft YaHei"/>
                <a:ea typeface="Microsoft YaHei"/>
              </a:rPr>
              <a:t>5.02s → 1.36s</a:t>
            </a:r>
            <a:r>
              <a:rPr lang="zh-CN" sz="1275">
                <a:solidFill>
                  <a:srgbClr val="1D1D1F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743700" y="4343400"/>
            <a:ext cx="48387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86868B"/>
                </a:solidFill>
                <a:latin typeface="Microsoft YaHei"/>
                <a:ea typeface="Microsoft YaHei"/>
              </a:rPr>
              <a:t>端到端</a:t>
            </a:r>
            <a:r>
              <a:rPr lang="en-US" sz="1275">
                <a:solidFill>
                  <a:srgbClr val="86868B"/>
                </a:solidFill>
                <a:latin typeface="Microsoft YaHei"/>
                <a:ea typeface="Microsoft YaHei"/>
              </a:rPr>
              <a:t> 42–51s → 34s</a:t>
            </a:r>
            <a:r>
              <a:rPr lang="zh-CN" sz="1275">
                <a:solidFill>
                  <a:srgbClr val="86868B"/>
                </a:solidFill>
                <a:latin typeface="Microsoft YaHei"/>
                <a:ea typeface="Microsoft YaHei"/>
              </a:rPr>
              <a:t>。正确性优先：条数对不上即退回慢路径。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86868B"/>
                </a:solidFill>
                <a:latin typeface="Microsoft YaHei"/>
                <a:ea typeface="Microsoft YaHei"/>
              </a:rPr>
              <a:t>视频剪辑智能体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45" name="" descr="&lt;Slide&gt;&#10;  &lt;Box style={{ position: 'absolute', left: 0, top: 0, width: '100%', height: '100%', background: '#FFFFFF' }} /&gt;&#10;&#10;  &lt;Text style={{ position: 'absolute', left: 64, top: 34, fontSize: 34, fontWeight: 'bold', color: '#1D1D1F' }}&gt;测试与验收&lt;/Text&gt;&#10;&#10;  &lt;Box style={{ position: 'absolute', left: 64, top: 120, right: 64, bottom: 72, flexDirection: 'row', gap: 28 }}&gt;&#10;    {/* 左说明 */}&#10;    &lt;Box style={{ width: '34%', flexDirection: 'column', justifyContent: 'center', gap: 14 }}&gt;&#10;      &lt;Text style={{ fontSize: 24, fontWeight: 'bold', color: '#007AFF' }}&gt;三重证据&lt;/Text&gt;&#10;      &lt;Text style={{ fontSize: 17, color: '#1D1D1F', lineHeight: 1.6 }}&gt;单元测试、确定性验收脚本、真机 LLM 路径，互相印证真实可运行。&lt;/Text&gt;&#10;    &lt;/Box&gt;&#10;&#10;    {/* 右 Table */}&#10;    &lt;Box style={{ width: '66%', height: '100%' }}&gt;&#10;      &lt;Table&#10;        style={{ width: '100%', height: '100%' }}&#10;        defaultTextStyle={{ fontSize: 17, textAlign: 'left', color: '#1D1D1F' }}&#10;        defaultCellStyle={{ border: { left: { width: 1, color: '#D2D2D7' }, right: { width: 1, color: '#D2D2D7' }, top: { width: 1, color: '#D2D2D7' }, bottom: { width: 1, color: '#D2D2D7' } } }}&#10;        cells={[&#10;          [&#10;            { text: '测试维度', textStyle: { bold: true, color: '#FFFFFF' }, cellStyle: { background: { color: '#007AFF' } } },&#10;            { text: '结果', textStyle: { bold: true, color: '#FFFFFF' }, cellStyle: { background: { color: '#007AFF' } } },&#10;          ],&#10;          ['单元测试', '163 passed + 27 subtests'],&#10;          ['确定性验收脚本', { text: '9 / 9 全绿', textStyle: { color: '#007AFF', bold: true } }],&#10;          ['真机 LLM 路径', '本地 Qwen3-0.6B，产出 12s 正确成片'],&#10;          ['界面', 'Gradio 7860，双击 bat 即启动'],&#10;        ]}&#10;      /&gt;&#10;    &lt;/Box&gt;&#10;  &lt;/Box&gt;&#10;&#10;  &lt;Box style={{ position: 'absolute', left: 0, top: 660, width: '100%', height: 60, flexDirection: 'row', justifyContent: 'space-between', alignItems: 'center', padding: '0 64px' }}&gt;&#10;    &lt;Text style={{ fontSize: 14, color: '#86868B' }}&gt;AI 视频剪辑智能体&lt;/Text&gt;&#10;    &lt;Text style={{ fontSize: 14, color: '#86868B' }}&gt;12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619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D1D1F"/>
                </a:solidFill>
                <a:latin typeface="Microsoft YaHei"/>
                <a:ea typeface="Microsoft YaHei"/>
              </a:rPr>
              <a:t>测试与验收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09600" y="3143250"/>
            <a:ext cx="3638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07AFF"/>
                </a:solidFill>
                <a:latin typeface="Microsoft YaHei"/>
                <a:ea typeface="Microsoft YaHei"/>
              </a:rPr>
              <a:t>三重证据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3552825"/>
            <a:ext cx="36385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D1D1F"/>
                </a:solidFill>
                <a:latin typeface="Microsoft YaHei"/>
                <a:ea typeface="Microsoft YaHei"/>
              </a:rPr>
              <a:t>单元测试、确定性验收脚本、真机</a:t>
            </a:r>
            <a:r>
              <a:rPr lang="en-US" sz="1275">
                <a:solidFill>
                  <a:srgbClr val="1D1D1F"/>
                </a:solidFill>
                <a:latin typeface="Microsoft YaHei"/>
                <a:ea typeface="Microsoft YaHei"/>
              </a:rPr>
              <a:t> LLM </a:t>
            </a:r>
            <a:r>
              <a:rPr lang="zh-CN" sz="1275">
                <a:solidFill>
                  <a:srgbClr val="1D1D1F"/>
                </a:solidFill>
                <a:latin typeface="Microsoft YaHei"/>
                <a:ea typeface="Microsoft YaHei"/>
              </a:rPr>
              <a:t>路径，互相印证真实可运行。</a:t>
            </a:r>
            <a:endParaRPr/>
          </a:p>
        </p:txBody>
      </p:sp>
      <p:graphicFrame>
        <p:nvGraphicFramePr>
          <p:cNvPr id="50" name=""/>
          <p:cNvGraphicFramePr/>
          <p:nvPr/>
        </p:nvGraphicFramePr>
        <p:xfrm rot="0" flipH="0" flipV="0">
          <a:off x="4514850" y="1143000"/>
          <a:ext cx="7067550" cy="5029200"/>
        </p:xfrm>
        <a:graphic>
          <a:graphicData uri="http://schemas.openxmlformats.org/drawingml/2006/table">
            <a:tbl>
              <a:tblGrid>
                <a:gridCol w="2093245">
                  <a:extLst>
                    <a:ext uri="{9D8B030D-6E8A-4147-A177-3AD203B41FA5}">
                      <a16:colId val="1"/>
                    </a:ext>
                  </a:extLst>
                </a:gridCol>
                <a:gridCol w="4974305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10058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测试维度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AF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AFF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10058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单元测试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163 passed + 27 subtests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10058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确定性验收脚本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007AFF"/>
                          </a:solidFill>
                          <a:latin typeface="Microsoft YaHei"/>
                          <a:ea typeface="Microsoft YaHei"/>
                        </a:rPr>
                        <a:t>9 / 9 全绿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10058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真机 LLM 路径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本地 Qwen3-0.6B，产出 12s 正确成片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100584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界面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D1D1F"/>
                          </a:solidFill>
                          <a:latin typeface="Microsoft YaHei"/>
                          <a:ea typeface="Microsoft YaHei"/>
                        </a:rPr>
                        <a:t>Gradio 7860，双击 bat 即启动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86868B"/>
                </a:solidFill>
                <a:latin typeface="Microsoft YaHei"/>
                <a:ea typeface="Microsoft YaHei"/>
              </a:rPr>
              <a:t>视频剪辑智能体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3" name="" descr="&lt;Slide&gt;&#10;  &lt;Box style={{ position: 'absolute', left: 0, top: 0, width: '100%', height: '100%', background: '#FFFFFF' }} /&gt;&#10;&#10;  &lt;Text style={{ position: 'absolute', left: 64, top: 34, fontSize: 34, fontWeight: 'bold', color: '#1D1D1F' }}&gt;交付物与使用&lt;/Text&gt;&#10;&#10;  &lt;Box style={{ position: 'absolute', left: 64, top: 120, right: 64, bottom: 72, flexDirection: 'row', gap: 28 }}&gt;&#10;    {/* 左 文件树 SVG */}&#10;    &lt;Box style={{ width: '46%', alignItems: 'center', justifyContent: 'center' }}&gt;&#10;      &lt;svg width={420} height={320} viewBox='0 0 420 320'&gt;&#10;        &lt;text x='10' y='30' fontSize='19' fill='#1D1D1F' fontWeight='bold'&gt;ai-video-agent/&lt;/text&gt;&#10;        &lt;text x='34' y='66' fontSize='17' fill='#007AFF'&gt;ai_video_agent/&lt;/text&gt;&#10;        &lt;text x='64' y='92' fontSize='14' fill='#86868B'&gt;11 个核心模块（3159 行）&lt;/text&gt;&#10;        &lt;text x='34' y='128' fontSize='17' fill='#007AFF'&gt;tests/&lt;/text&gt;&#10;        &lt;text x='64' y='154' fontSize='14' fill='#86868B'&gt;163 单元测试 + 27 subtests&lt;/text&gt;&#10;        &lt;text x='34' y='190' fontSize='17' fill='#007AFF'&gt;_verify/&lt;/text&gt;&#10;        &lt;text x='64' y='216' fontSize='14' fill='#86868B'&gt;22 个验收 / 探测脚本&lt;/text&gt;&#10;        &lt;text x='34' y='252' fontSize='17' fill='#1D1D1F'&gt;一键测试.bat&lt;/text&gt;&#10;        &lt;text x='34' y='284' fontSize='17' fill='#1D1D1F'&gt;一键启动界面.bat&lt;/text&gt;&#10;      &lt;/svg&gt;&#10;    &lt;/Box&gt;&#10;&#10;    {/* 右 使用说明 */}&#10;    &lt;Box style={{ width: '54%', flexDirection: 'column', justifyContent: 'center', gap: 16 }}&gt;&#10;      &lt;Text style={{ fontSize: 22, fontWeight: 'bold', color: '#007AFF' }}&gt;开箱即跑&lt;/Text&gt;&#10;      &lt;Box style={{ flexDirection: 'row', alignItems: 'flex-start', gap: 10 }}&gt;&#10;        &lt;Text style={{ fontSize: 18, color: '#1D1D1F', lineHeight: 1.6 }}&gt;&lt;span style={{ fontWeight: 'bold', color: '#007AFF' }}&gt;①&lt;/span&gt; 双击「一键测试.bat」→ 跑全部单元测试&lt;/Text&gt;&#10;      &lt;/Box&gt;&#10;      &lt;Box style={{ flexDirection: 'row', alignItems: 'flex-start', gap: 10 }}&gt;&#10;        &lt;Text style={{ fontSize: 18, color: '#1D1D1F', lineHeight: 1.6 }}&gt;&lt;span style={{ fontWeight: 'bold', color: '#007AFF' }}&gt;②&lt;/span&gt; 双击「一键启动界面.bat」→ 起 Gradio UI（:7860）&lt;/Text&gt;&#10;      &lt;/Box&gt;&#10;      &lt;Text style={{ fontSize: 16, color: '#86868B', marginTop: 6, lineHeight: 1.6 }}&gt;无需联网；真机 LLM 演示时再起本地 Qwen3 服务即可。&lt;/Text&gt;&#10;      &lt;Text style={{ fontSize: 16, color: '#86868B', lineHeight: 1.6 }}&gt;源码包 + UI + 文档 + 样片均已齐备，可直接交付。&lt;/Text&gt;&#10;    &lt;/Box&gt;&#10;  &lt;/Box&gt;&#10;&#10;  &lt;Box style={{ position: 'absolute', left: 0, top: 660, width: '100%', height: 60, flexDirection: 'row', justifyContent: 'space-between', alignItems: 'center', padding: '0 64px' }}&gt;&#10;    &lt;Text style={{ fontSize: 14, color: '#86868B' }}&gt;AI 视频剪辑智能体&lt;/Text&gt;&#10;    &lt;Text style={{ fontSize: 14, color: '#86868B' }}&gt;13 / 14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D1D1F"/>
                </a:solidFill>
                <a:latin typeface="Microsoft YaHei"/>
                <a:ea typeface="Microsoft YaHei"/>
              </a:rPr>
              <a:t>交付物与使用</a:t>
            </a:r>
            <a:endParaRPr/>
          </a:p>
        </p:txBody>
      </p:sp>
      <p:pic>
        <p:nvPicPr>
          <p:cNvPr id="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76325" y="2133600"/>
            <a:ext cx="4000500" cy="3048000"/>
          </a:xfrm>
          <a:prstGeom prst="rect">
            <a:avLst/>
          </a:prstGeom>
          <a:ln/>
        </p:spPr>
      </p:pic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5800725" y="2571750"/>
            <a:ext cx="5781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07AFF"/>
                </a:solidFill>
                <a:latin typeface="Microsoft YaHei"/>
                <a:ea typeface="Microsoft YaHei"/>
              </a:rPr>
              <a:t>开箱即跑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800725" y="2981325"/>
            <a:ext cx="332422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sz="1350" b="1">
                <a:solidFill>
                  <a:srgbClr val="007AFF"/>
                </a:solidFill>
                <a:latin typeface="Microsoft YaHei"/>
                <a:ea typeface="Microsoft YaHei"/>
              </a:rPr>
              <a:t>①</a:t>
            </a: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双击「一键测试</a:t>
            </a: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.bat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」→</a:t>
            </a: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跑全部单元测试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5800725" y="3467100"/>
            <a:ext cx="42576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sz="1350" b="1">
                <a:solidFill>
                  <a:srgbClr val="007AFF"/>
                </a:solidFill>
                <a:latin typeface="Microsoft YaHei"/>
                <a:ea typeface="Microsoft YaHei"/>
              </a:rPr>
              <a:t>②</a:t>
            </a: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双击「一键启动界面</a:t>
            </a: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.bat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」→</a:t>
            </a: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起</a:t>
            </a: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 Gradio UI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（</a:t>
            </a:r>
            <a:r>
              <a:rPr lang="en-US" sz="1350">
                <a:solidFill>
                  <a:srgbClr val="1D1D1F"/>
                </a:solidFill>
                <a:latin typeface="Microsoft YaHei"/>
                <a:ea typeface="Microsoft YaHei"/>
              </a:rPr>
              <a:t>:7860</a:t>
            </a:r>
            <a:r>
              <a:rPr lang="zh-CN" sz="1350">
                <a:solidFill>
                  <a:srgbClr val="1D1D1F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800725" y="4010025"/>
            <a:ext cx="57816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86868B"/>
                </a:solidFill>
                <a:latin typeface="Microsoft YaHei"/>
                <a:ea typeface="Microsoft YaHei"/>
              </a:rPr>
              <a:t>无需联网；真机</a:t>
            </a:r>
            <a:r>
              <a:rPr lang="en-US" sz="1200">
                <a:solidFill>
                  <a:srgbClr val="86868B"/>
                </a:solidFill>
                <a:latin typeface="Microsoft YaHei"/>
                <a:ea typeface="Microsoft YaHei"/>
              </a:rPr>
              <a:t> LLM </a:t>
            </a:r>
            <a:r>
              <a:rPr lang="zh-CN" sz="1200">
                <a:solidFill>
                  <a:srgbClr val="86868B"/>
                </a:solidFill>
                <a:latin typeface="Microsoft YaHei"/>
                <a:ea typeface="Microsoft YaHei"/>
              </a:rPr>
              <a:t>演示时再起本地</a:t>
            </a:r>
            <a:r>
              <a:rPr lang="en-US" sz="1200">
                <a:solidFill>
                  <a:srgbClr val="86868B"/>
                </a:solidFill>
                <a:latin typeface="Microsoft YaHei"/>
                <a:ea typeface="Microsoft YaHei"/>
              </a:rPr>
              <a:t> Qwen3 </a:t>
            </a:r>
            <a:r>
              <a:rPr lang="zh-CN" sz="1200">
                <a:solidFill>
                  <a:srgbClr val="86868B"/>
                </a:solidFill>
                <a:latin typeface="Microsoft YaHei"/>
                <a:ea typeface="Microsoft YaHei"/>
              </a:rPr>
              <a:t>服务即可。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5800725" y="4457700"/>
            <a:ext cx="57816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86868B"/>
                </a:solidFill>
                <a:latin typeface="Microsoft YaHei"/>
                <a:ea typeface="Microsoft YaHei"/>
              </a:rPr>
              <a:t>源码包</a:t>
            </a:r>
            <a:r>
              <a:rPr lang="en-US" sz="1200">
                <a:solidFill>
                  <a:srgbClr val="86868B"/>
                </a:solidFill>
                <a:latin typeface="Microsoft YaHei"/>
                <a:ea typeface="Microsoft YaHei"/>
              </a:rPr>
              <a:t> + UI + </a:t>
            </a:r>
            <a:r>
              <a:rPr lang="zh-CN" sz="1200">
                <a:solidFill>
                  <a:srgbClr val="86868B"/>
                </a:solidFill>
                <a:latin typeface="Microsoft YaHei"/>
                <a:ea typeface="Microsoft YaHei"/>
              </a:rPr>
              <a:t>文档</a:t>
            </a:r>
            <a:r>
              <a:rPr lang="en-US" sz="1200">
                <a:solidFill>
                  <a:srgbClr val="86868B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86868B"/>
                </a:solidFill>
                <a:latin typeface="Microsoft YaHei"/>
                <a:ea typeface="Microsoft YaHei"/>
              </a:rPr>
              <a:t>样片均已齐备，可直接交付。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AI </a:t>
            </a:r>
            <a:r>
              <a:rPr lang="zh-CN" sz="1050">
                <a:solidFill>
                  <a:srgbClr val="86868B"/>
                </a:solidFill>
                <a:latin typeface="Microsoft YaHei"/>
                <a:ea typeface="Microsoft YaHei"/>
              </a:rPr>
              <a:t>视频剪辑智能体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6868B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64" name="" descr="&lt;Slide&gt;&#10;  &lt;Box style={{ position: 'absolute', left: 0, top: 0, width: '100%', height: '100%', background: '#FFFFFF' }} /&gt;&#10;&#10;  {/* 顶部细渐变条 */}&#10;  &lt;Box style={{ position: 'absolute', left: 0, top: 0, width: '100%', height: 8, background: 'linear-gradient(90deg, #007AFF 0%, #4DA3FF 100%)' }} /&gt;&#10;&#10;  {/* 居中金句 */}&#10;  &lt;Box style={{ position: 'absolute', left: 0, top: 0, width: '100%', height: '100%', flexDirection: 'column', alignItems: 'center', justifyContent: 'center' }}&gt;&#10;    &lt;Text style={{ fontSize: 58, fontWeight: 'bold', color: '#1D1D1F', textAlign: 'center' }}&gt;一句话，剪出专业成片&lt;/Text&gt;&#10;    &lt;Text style={{ fontSize: 22, color: '#86868B', marginTop: 22, textAlign: 'center' }}&gt;AI 视频剪辑智能体 · 完整可运行 · 经严格验证&lt;/Text&gt;&#10;    &lt;Text style={{ fontSize: 16, color: '#86868B', marginTop: 48, textAlign: 'center' }}&gt;Ryhirz · 数据科学与大数据技术 · 2026.09&lt;/Text&gt;&#10;  &lt;/Box&gt;&#10;&#10;  {/* 底部细渐变条 */}&#10;  &lt;Box style={{ position: 'absolute', left: 0, bottom: 0, width: '100%', height: 8, background: 'linear-gradient(90deg, #4DA3FF 0%, #007AFF 100%)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07AFF"/>
              </a:gs>
              <a:gs pos="100000">
                <a:srgbClr val="4DA3FF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333750" y="2543175"/>
            <a:ext cx="5524500" cy="6667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4350" b="1">
                <a:solidFill>
                  <a:srgbClr val="1D1D1F"/>
                </a:solidFill>
                <a:latin typeface="Microsoft YaHei"/>
                <a:ea typeface="Microsoft YaHei"/>
              </a:rPr>
              <a:t>一句话，剪出专业成片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000500" y="3419475"/>
            <a:ext cx="41910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650">
                <a:solidFill>
                  <a:srgbClr val="86868B"/>
                </a:solidFill>
                <a:latin typeface="Microsoft YaHei"/>
                <a:ea typeface="Microsoft YaHei"/>
              </a:rPr>
              <a:t>AI </a:t>
            </a:r>
            <a:r>
              <a:rPr lang="zh-CN" sz="1650">
                <a:solidFill>
                  <a:srgbClr val="86868B"/>
                </a:solidFill>
                <a:latin typeface="Microsoft YaHei"/>
                <a:ea typeface="Microsoft YaHei"/>
              </a:rPr>
              <a:t>视频剪辑智能体</a:t>
            </a:r>
            <a:r>
              <a:rPr lang="en-US" sz="1650">
                <a:solidFill>
                  <a:srgbClr val="86868B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86868B"/>
                </a:solidFill>
                <a:latin typeface="Microsoft YaHei"/>
                <a:ea typeface="Microsoft YaHei"/>
              </a:rPr>
              <a:t>完整可运行</a:t>
            </a:r>
            <a:r>
              <a:rPr lang="en-US" sz="1650">
                <a:solidFill>
                  <a:srgbClr val="86868B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86868B"/>
                </a:solidFill>
                <a:latin typeface="Microsoft YaHei"/>
                <a:ea typeface="Microsoft YaHei"/>
              </a:rPr>
              <a:t>经严格验证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695825" y="4133850"/>
            <a:ext cx="2809875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86868B"/>
                </a:solidFill>
                <a:latin typeface="Microsoft YaHei"/>
                <a:ea typeface="Microsoft YaHei"/>
              </a:rPr>
              <a:t>Ryhirz · </a:t>
            </a:r>
            <a:r>
              <a:rPr lang="zh-CN" sz="1200">
                <a:solidFill>
                  <a:srgbClr val="86868B"/>
                </a:solidFill>
                <a:latin typeface="Microsoft YaHei"/>
                <a:ea typeface="Microsoft YaHei"/>
              </a:rPr>
              <a:t>数据科学与大数据技术</a:t>
            </a:r>
            <a:r>
              <a:rPr lang="en-US" sz="1200">
                <a:solidFill>
                  <a:srgbClr val="86868B"/>
                </a:solidFill>
                <a:latin typeface="Microsoft YaHei"/>
                <a:ea typeface="Microsoft YaHei"/>
              </a:rPr>
              <a:t> · 2026.09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0" y="6781800"/>
            <a:ext cx="12192000" cy="76200"/>
          </a:xfrm>
          <a:prstGeom prst="rect">
            <a:avLst/>
          </a:prstGeom>
          <a:gradFill>
            <a:gsLst>
              <a:gs pos="0">
                <a:srgbClr val="4DA3FF"/>
              </a:gs>
              <a:gs pos="100000">
                <a:srgbClr val="007AFF"/>
              </a:gs>
            </a:gsLst>
            <a:lin ang="0" scaled="1"/>
          </a:gra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2026-09-24T12:02:40Z</dcterms:created>
  <dcterms:modified xsi:type="dcterms:W3CDTF">2026-09-24T12:02:40Z</dcterms:modified>
</cp:coreProperties>
</file>